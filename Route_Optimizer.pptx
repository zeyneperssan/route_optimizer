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21" dt="2026-09-04T09:47:57.5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028F58-1EB9-4CE7-9D79-58A9B2BFD7C3}" type="datetimeFigureOut">
              <a:t>4.09.2026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413571-8B2B-4457-B3F5-EAF5E54E31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386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Sayın Yöneticilerim, bugün sizlere kargo dağıtım operasyonlarımızı manuel planlamadan kurtaran, gerçek karayolu ağını ve çok boyutlu operasyonel kısıtları matematiksel modelle çözen Route Optimizer projemizi sunmaktan mutluluk duyuyorum.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Kargo lojistiğinde en büyük maliyetler kuş uçuşu mesafe yanılgısından, hacim darboğazından ve mükerrer iade seferlerinden kaynaklanır. Route Optimizer bu 5 kritik problemi matematiksel kurallarla kökten çözer.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Sistemimiz Modül 0'dan 12'ye kadar birbirine gevşek bağlı (loosely-coupled) bir boru hattı (pipeline) şeklinde çalışır. Veri okunur, geocode edilir, matris üretilir, model çözülür ve canlı haritaya aktarılır.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Teknoloji seçimimizde endüstri standardı çözümleri birleştirdik: Optimizasyonda Google OR-Tools, coğrafi veride OpenRouteService, web ve haritada Flask ve Leaflet.js tercih edildi.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Harita doğruluğu projemizin en kritik kazanımlarından biridir. Kuş uçuşu hesaplamayı terk edip gerçek karayolu matrisine geçtik; ayrıca Focus Point ile ilçe çelişkilerini çözdük ve mesafe hesaplamalarını gerçek matrise bağladık.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Lojistik operasyonlarda sadece ağırlık yetersizdir; hacim kısıtı da hayati önem taşır. Modelimiz hem KG hem Desi kısıtını, araç-paket uyumunu ve sürücü mesai sınırlarını eksiksiz yönetir.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Müşteri memnuniyetini maksimize etmek için Express paketlere yüksek ceza puanları tanımladık. Ayrıca teslimat biterken aynı araçla iade kargoları toplayan Backhaul modeli sayesinde mükerrer sefer masraflarını sıfırladık.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Yöneticimiz operasyonel önceliğe göre tek tıkla 'Minimum Kilometre', 'En Hızlı Dağıtım' veya 'En Yüksek Kârlılık' senaryoları arasında anlık geçiş yapabilir.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Bu tabloda gerçek operasyonel verilerle 3 senaryonun çıktılarını görüyoruz. Maliyet senaryosu şirket bütçesinde en yüksek tasarrufu sağlarken, Süre senaryosu SLA oranını %98'e ulaştırmaktadır.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Geliştirdiğimiz 3 katmanlı disk önbellek mimarisi sayesinde dış API kotalarını sıfır israfla koruyoruz ve optimizasyonu 1 saniyenin altında tamamlıyoruz.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Geliştirdiğimiz canlı web paneli; harita takibi, canlı adres otomatik tamamlama, anlık sipariş ekleme, filtreleme ve CSV dışa aktarma gibi tüm saha ihtiyaçlarını karşılamaktadır.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Sunumumu dinlediğiniz için çok teşekkür ederim. İzninizle şimdi sistemi canlı web paneli üzerinde uygulamalı olarak göstermek ve sorularınızı yanıtlamak isterim.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822960"/>
            <a:ext cx="4754880" cy="384048"/>
          </a:xfrm>
          <a:prstGeom prst="roundRect">
            <a:avLst/>
          </a:prstGeom>
          <a:solidFill>
            <a:srgbClr val="12263A"/>
          </a:solidFill>
          <a:ln w="127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B981"/>
                </a:solidFill>
                <a:latin typeface="Segoe UI"/>
              </a:defRPr>
            </a:pPr>
            <a:r>
              <a:t>🚚 KURUMSAL KARGO ERP &amp; DAĞITIM OPTİMİZASYONU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Segoe UI"/>
              </a:defRPr>
            </a:pPr>
            <a:r>
              <a:t>Route Optimizer</a:t>
            </a:r>
          </a:p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Yapay Zeka ve Yöneylem Araştırması Destekli Akıllı Rota &amp; Filo Yönetim Sistemi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23920"/>
            <a:ext cx="3383280" cy="15544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rPr sz="1400" dirty="0"/>
              <a:t>🎯 Temel Amaç &amp; </a:t>
            </a:r>
            <a:r>
              <a:rPr sz="1400" dirty="0" err="1"/>
              <a:t>Vizyon</a:t>
            </a:r>
            <a:endParaRPr lang="en-US" sz="1400">
              <a:ea typeface="Calibri"/>
              <a:cs typeface="Calibri"/>
            </a:endParaRPr>
          </a:p>
          <a:p>
            <a:pPr>
              <a:defRPr sz="900">
                <a:solidFill>
                  <a:srgbClr val="94A3B8"/>
                </a:solidFill>
              </a:defRPr>
            </a:pPr>
            <a:r>
              <a:rPr sz="1400" dirty="0"/>
              <a:t>Manuel </a:t>
            </a:r>
            <a:r>
              <a:rPr sz="1400" dirty="0" err="1"/>
              <a:t>rota</a:t>
            </a:r>
            <a:r>
              <a:rPr sz="1400" dirty="0"/>
              <a:t> </a:t>
            </a:r>
            <a:r>
              <a:rPr sz="1400" dirty="0" err="1"/>
              <a:t>hazırlığını</a:t>
            </a:r>
            <a:r>
              <a:rPr sz="1400" dirty="0"/>
              <a:t> </a:t>
            </a:r>
            <a:r>
              <a:rPr sz="1400" dirty="0" err="1"/>
              <a:t>saniyelere</a:t>
            </a:r>
            <a:r>
              <a:rPr sz="1400" dirty="0"/>
              <a:t> </a:t>
            </a:r>
            <a:r>
              <a:rPr sz="1400" dirty="0" err="1"/>
              <a:t>indirmek</a:t>
            </a:r>
            <a:r>
              <a:rPr sz="1400" dirty="0"/>
              <a:t>; </a:t>
            </a:r>
            <a:r>
              <a:rPr sz="1400" dirty="0" err="1"/>
              <a:t>yakıt</a:t>
            </a:r>
            <a:r>
              <a:rPr sz="1400" dirty="0"/>
              <a:t>, </a:t>
            </a:r>
            <a:r>
              <a:rPr sz="1400" dirty="0" err="1"/>
              <a:t>mesai</a:t>
            </a:r>
            <a:r>
              <a:rPr sz="1400" dirty="0"/>
              <a:t> </a:t>
            </a:r>
            <a:r>
              <a:rPr sz="1400" dirty="0" err="1"/>
              <a:t>ve</a:t>
            </a:r>
            <a:r>
              <a:rPr sz="1400" dirty="0"/>
              <a:t> </a:t>
            </a:r>
            <a:r>
              <a:rPr sz="1400" dirty="0" err="1"/>
              <a:t>operasyonel</a:t>
            </a:r>
            <a:r>
              <a:rPr sz="1400" dirty="0"/>
              <a:t> </a:t>
            </a:r>
            <a:r>
              <a:rPr sz="1400" dirty="0" err="1"/>
              <a:t>maliyetlerde</a:t>
            </a:r>
            <a:r>
              <a:rPr sz="1400" dirty="0"/>
              <a:t> %25+ </a:t>
            </a:r>
            <a:r>
              <a:rPr sz="1400" dirty="0" err="1"/>
              <a:t>tasarruf</a:t>
            </a:r>
            <a:r>
              <a:rPr sz="1400" dirty="0"/>
              <a:t> </a:t>
            </a:r>
            <a:r>
              <a:rPr sz="1400" dirty="0" err="1"/>
              <a:t>sağlamak</a:t>
            </a:r>
            <a:r>
              <a:rPr sz="1400" dirty="0"/>
              <a:t>.</a:t>
            </a:r>
            <a:endParaRPr sz="1400">
              <a:ea typeface="Calibri"/>
              <a:cs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328160" y="3423920"/>
            <a:ext cx="3383280" cy="15544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rPr sz="1400" dirty="0"/>
              <a:t>⚙️ </a:t>
            </a:r>
            <a:r>
              <a:rPr sz="1400" dirty="0" err="1"/>
              <a:t>Matematiksel</a:t>
            </a:r>
            <a:r>
              <a:rPr sz="1400" dirty="0"/>
              <a:t> </a:t>
            </a:r>
            <a:r>
              <a:rPr sz="1400" dirty="0" err="1"/>
              <a:t>Çözücü</a:t>
            </a:r>
            <a:endParaRPr lang="en-US" sz="1400">
              <a:ea typeface="Calibri"/>
              <a:cs typeface="Calibri"/>
            </a:endParaRPr>
          </a:p>
          <a:p>
            <a:pPr>
              <a:defRPr sz="900">
                <a:solidFill>
                  <a:srgbClr val="94A3B8"/>
                </a:solidFill>
              </a:defRPr>
            </a:pPr>
            <a:r>
              <a:rPr sz="1400" dirty="0"/>
              <a:t>Google OR-Tools CP-SAT (</a:t>
            </a:r>
            <a:r>
              <a:rPr sz="1400" dirty="0" err="1"/>
              <a:t>Kapasiteli</a:t>
            </a:r>
            <a:r>
              <a:rPr sz="1400" dirty="0"/>
              <a:t> &amp; Zaman </a:t>
            </a:r>
            <a:r>
              <a:rPr sz="1400" dirty="0" err="1"/>
              <a:t>Pencereli</a:t>
            </a:r>
            <a:r>
              <a:rPr sz="1400" dirty="0"/>
              <a:t> CVRPTW), Guided Local Search </a:t>
            </a:r>
            <a:r>
              <a:rPr sz="1400" dirty="0" err="1"/>
              <a:t>ve</a:t>
            </a:r>
            <a:r>
              <a:rPr sz="1400" dirty="0"/>
              <a:t> Tabu Search metaheuristics.</a:t>
            </a:r>
            <a:endParaRPr sz="1400">
              <a:ea typeface="Calibri"/>
              <a:cs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863840" y="3423920"/>
            <a:ext cx="3383280" cy="15544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rPr dirty="0"/>
              <a:t>🗺</a:t>
            </a:r>
            <a:r>
              <a:rPr sz="1400" dirty="0"/>
              <a:t>️ </a:t>
            </a:r>
            <a:r>
              <a:rPr sz="1400" dirty="0" err="1"/>
              <a:t>Gerçek</a:t>
            </a:r>
            <a:r>
              <a:rPr sz="1400" dirty="0"/>
              <a:t> GIS &amp; Web </a:t>
            </a:r>
            <a:r>
              <a:rPr sz="1400" dirty="0" err="1"/>
              <a:t>Paneli</a:t>
            </a:r>
            <a:endParaRPr lang="en-US" sz="1400">
              <a:ea typeface="Calibri"/>
              <a:cs typeface="Calibri"/>
            </a:endParaRPr>
          </a:p>
          <a:p>
            <a:pPr>
              <a:defRPr sz="900">
                <a:solidFill>
                  <a:srgbClr val="94A3B8"/>
                </a:solidFill>
              </a:defRPr>
            </a:pPr>
            <a:r>
              <a:rPr sz="1400" dirty="0" err="1"/>
              <a:t>OpenRouteService</a:t>
            </a:r>
            <a:r>
              <a:rPr sz="1400" dirty="0"/>
              <a:t> </a:t>
            </a:r>
            <a:r>
              <a:rPr sz="1400" dirty="0" err="1"/>
              <a:t>gerçek</a:t>
            </a:r>
            <a:r>
              <a:rPr sz="1400" dirty="0"/>
              <a:t> </a:t>
            </a:r>
            <a:r>
              <a:rPr sz="1400" dirty="0" err="1"/>
              <a:t>karayolu</a:t>
            </a:r>
            <a:r>
              <a:rPr sz="1400" dirty="0"/>
              <a:t> </a:t>
            </a:r>
            <a:r>
              <a:rPr sz="1400" dirty="0" err="1"/>
              <a:t>matrisi</a:t>
            </a:r>
            <a:r>
              <a:rPr sz="1400" dirty="0"/>
              <a:t>, 3 </a:t>
            </a:r>
            <a:r>
              <a:rPr sz="1400" dirty="0" err="1"/>
              <a:t>katmanlı</a:t>
            </a:r>
            <a:r>
              <a:rPr sz="1400" dirty="0"/>
              <a:t> disk </a:t>
            </a:r>
            <a:r>
              <a:rPr sz="1400" dirty="0" err="1"/>
              <a:t>önbelleği</a:t>
            </a:r>
            <a:r>
              <a:rPr sz="1400" dirty="0"/>
              <a:t> </a:t>
            </a:r>
            <a:r>
              <a:rPr sz="1400" dirty="0" err="1"/>
              <a:t>ve</a:t>
            </a:r>
            <a:r>
              <a:rPr sz="1400" dirty="0"/>
              <a:t> Leaflet.js </a:t>
            </a:r>
            <a:r>
              <a:rPr sz="1400" dirty="0" err="1"/>
              <a:t>destekli</a:t>
            </a:r>
            <a:r>
              <a:rPr sz="1400" dirty="0"/>
              <a:t> </a:t>
            </a:r>
            <a:r>
              <a:rPr sz="1400" dirty="0" err="1"/>
              <a:t>canlı</a:t>
            </a:r>
            <a:r>
              <a:rPr sz="1400" dirty="0"/>
              <a:t> </a:t>
            </a:r>
            <a:r>
              <a:rPr sz="1400" dirty="0" err="1"/>
              <a:t>yönetim</a:t>
            </a:r>
            <a:r>
              <a:rPr sz="1400" dirty="0"/>
              <a:t> </a:t>
            </a:r>
            <a:r>
              <a:rPr sz="1400" dirty="0" err="1"/>
              <a:t>arayüzü</a:t>
            </a:r>
            <a:r>
              <a:rPr sz="1400" dirty="0"/>
              <a:t>.</a:t>
            </a:r>
            <a:endParaRPr sz="14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01 / YÖNETICI ÖZETI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Sektörel Darboğazlar ve Route Optimizer Çözüm Vizyonu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1887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 b="1">
                <a:solidFill>
                  <a:srgbClr val="10B981"/>
                </a:solidFill>
                <a:latin typeface="Segoe UI"/>
              </a:defRPr>
            </a:pPr>
            <a:r>
              <a:t>02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1C2541"/>
          </a:solidFill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1400" b="1">
                <a:solidFill>
                  <a:srgbClr val="F43F5E"/>
                </a:solidFill>
              </a:defRPr>
            </a:pPr>
            <a:r>
              <a:rPr dirty="0"/>
              <a:t>❌ </a:t>
            </a:r>
            <a:r>
              <a:rPr dirty="0" err="1"/>
              <a:t>Geleneksel</a:t>
            </a:r>
            <a:r>
              <a:rPr dirty="0"/>
              <a:t> </a:t>
            </a:r>
            <a:r>
              <a:rPr dirty="0" err="1"/>
              <a:t>Dağıtımdaki</a:t>
            </a:r>
            <a:r>
              <a:rPr dirty="0"/>
              <a:t> </a:t>
            </a:r>
            <a:r>
              <a:rPr dirty="0" err="1"/>
              <a:t>Darboğazlar</a:t>
            </a:r>
            <a:endParaRPr lang="en-US" dirty="0" err="1">
              <a:ea typeface="Calibri"/>
              <a:cs typeface="Calibri"/>
            </a:endParaRPr>
          </a:p>
          <a:p>
            <a:pPr algn="ctr">
              <a:defRPr sz="950">
                <a:solidFill>
                  <a:srgbClr val="E2E8F0"/>
                </a:solidFill>
              </a:defRPr>
            </a:pPr>
            <a:endParaRPr lang="en-US" sz="1400" b="1" dirty="0">
              <a:solidFill>
                <a:srgbClr val="F43F5E"/>
              </a:solidFill>
            </a:endParaRPr>
          </a:p>
          <a:p>
            <a:pPr>
              <a:defRPr sz="950">
                <a:solidFill>
                  <a:srgbClr val="E2E8F0"/>
                </a:solidFill>
              </a:defRPr>
            </a:pPr>
            <a:r>
              <a:rPr sz="1400" dirty="0"/>
              <a:t>• Kuş Uçuşu Mesafe Yanılgısı: </a:t>
            </a:r>
            <a:r>
              <a:rPr sz="1400" dirty="0" err="1"/>
              <a:t>Haritada</a:t>
            </a:r>
            <a:r>
              <a:rPr sz="1400" dirty="0"/>
              <a:t> </a:t>
            </a:r>
            <a:r>
              <a:rPr sz="1400" dirty="0" err="1"/>
              <a:t>yakın</a:t>
            </a:r>
            <a:r>
              <a:rPr sz="1400" dirty="0"/>
              <a:t> </a:t>
            </a:r>
            <a:r>
              <a:rPr sz="1400" dirty="0" err="1"/>
              <a:t>görünen</a:t>
            </a:r>
            <a:r>
              <a:rPr sz="1400" dirty="0"/>
              <a:t> </a:t>
            </a:r>
            <a:r>
              <a:rPr sz="1400" dirty="0" err="1"/>
              <a:t>noktaların</a:t>
            </a:r>
            <a:r>
              <a:rPr sz="1400" dirty="0"/>
              <a:t> </a:t>
            </a:r>
            <a:r>
              <a:rPr sz="1400" dirty="0" err="1"/>
              <a:t>köprü</a:t>
            </a:r>
            <a:r>
              <a:rPr sz="1400" dirty="0"/>
              <a:t>, </a:t>
            </a:r>
            <a:r>
              <a:rPr sz="1400" dirty="0" err="1"/>
              <a:t>trafik</a:t>
            </a:r>
            <a:r>
              <a:rPr sz="1400" dirty="0"/>
              <a:t> </a:t>
            </a:r>
            <a:r>
              <a:rPr sz="1400" dirty="0" err="1"/>
              <a:t>ve</a:t>
            </a:r>
            <a:r>
              <a:rPr sz="1400" dirty="0"/>
              <a:t> </a:t>
            </a:r>
            <a:r>
              <a:rPr sz="1400" dirty="0" err="1"/>
              <a:t>tek</a:t>
            </a:r>
            <a:r>
              <a:rPr sz="1400" dirty="0"/>
              <a:t> </a:t>
            </a:r>
            <a:r>
              <a:rPr sz="1400" dirty="0" err="1"/>
              <a:t>yönler</a:t>
            </a:r>
            <a:r>
              <a:rPr sz="1400" dirty="0"/>
              <a:t> </a:t>
            </a:r>
            <a:r>
              <a:rPr sz="1400" dirty="0" err="1"/>
              <a:t>nedeniyle</a:t>
            </a:r>
            <a:r>
              <a:rPr sz="1400" dirty="0"/>
              <a:t> 1.5x-2.1x </a:t>
            </a:r>
            <a:r>
              <a:rPr sz="1400" dirty="0" err="1"/>
              <a:t>daha</a:t>
            </a:r>
            <a:r>
              <a:rPr sz="1400" dirty="0"/>
              <a:t> </a:t>
            </a:r>
            <a:r>
              <a:rPr sz="1400" dirty="0" err="1"/>
              <a:t>uzun</a:t>
            </a:r>
            <a:r>
              <a:rPr sz="1400" dirty="0"/>
              <a:t> </a:t>
            </a:r>
            <a:r>
              <a:rPr sz="1400" dirty="0" err="1"/>
              <a:t>sürmesi</a:t>
            </a:r>
            <a:r>
              <a:rPr sz="1400" dirty="0"/>
              <a:t>.</a:t>
            </a:r>
            <a:endParaRPr sz="1400" dirty="0">
              <a:ea typeface="Calibri"/>
              <a:cs typeface="Calibri"/>
            </a:endParaRPr>
          </a:p>
          <a:p>
            <a:pPr>
              <a:defRPr sz="950">
                <a:solidFill>
                  <a:srgbClr val="E2E8F0"/>
                </a:solidFill>
              </a:defRPr>
            </a:pPr>
            <a:endParaRPr lang="en-US" sz="1400" dirty="0"/>
          </a:p>
          <a:p>
            <a:pPr>
              <a:defRPr sz="950">
                <a:solidFill>
                  <a:srgbClr val="E2E8F0"/>
                </a:solidFill>
              </a:defRPr>
            </a:pPr>
            <a:r>
              <a:rPr sz="1400" dirty="0"/>
              <a:t>• Hacim (Desi) </a:t>
            </a:r>
            <a:r>
              <a:rPr sz="1400" dirty="0" err="1"/>
              <a:t>Darboğazı</a:t>
            </a:r>
            <a:r>
              <a:rPr sz="1400" dirty="0"/>
              <a:t>: </a:t>
            </a:r>
            <a:r>
              <a:rPr sz="1400" dirty="0" err="1"/>
              <a:t>Ağır</a:t>
            </a:r>
            <a:r>
              <a:rPr sz="1400" dirty="0"/>
              <a:t> </a:t>
            </a:r>
            <a:r>
              <a:rPr sz="1400" dirty="0" err="1"/>
              <a:t>olmayan</a:t>
            </a:r>
            <a:r>
              <a:rPr sz="1400" dirty="0"/>
              <a:t> </a:t>
            </a:r>
            <a:r>
              <a:rPr sz="1400" dirty="0" err="1"/>
              <a:t>ancak</a:t>
            </a:r>
            <a:r>
              <a:rPr sz="1400" dirty="0"/>
              <a:t> </a:t>
            </a:r>
            <a:r>
              <a:rPr sz="1400" dirty="0" err="1"/>
              <a:t>hacimce</a:t>
            </a:r>
            <a:r>
              <a:rPr sz="1400" dirty="0"/>
              <a:t> </a:t>
            </a:r>
            <a:r>
              <a:rPr sz="1400" dirty="0" err="1"/>
              <a:t>büyük</a:t>
            </a:r>
            <a:r>
              <a:rPr sz="1400" dirty="0"/>
              <a:t> </a:t>
            </a:r>
            <a:r>
              <a:rPr sz="1400" dirty="0" err="1"/>
              <a:t>kolilerin</a:t>
            </a:r>
            <a:r>
              <a:rPr sz="1400" dirty="0"/>
              <a:t> </a:t>
            </a:r>
            <a:r>
              <a:rPr sz="1400" dirty="0" err="1"/>
              <a:t>aracı</a:t>
            </a:r>
            <a:r>
              <a:rPr sz="1400" dirty="0"/>
              <a:t> </a:t>
            </a:r>
            <a:r>
              <a:rPr sz="1400" dirty="0" err="1"/>
              <a:t>erken</a:t>
            </a:r>
            <a:r>
              <a:rPr sz="1400" dirty="0"/>
              <a:t> </a:t>
            </a:r>
            <a:r>
              <a:rPr sz="1400" dirty="0" err="1"/>
              <a:t>doldurması</a:t>
            </a:r>
            <a:r>
              <a:rPr sz="1400" dirty="0"/>
              <a:t> </a:t>
            </a:r>
            <a:r>
              <a:rPr sz="1400" dirty="0" err="1"/>
              <a:t>ve</a:t>
            </a:r>
            <a:r>
              <a:rPr sz="1400" dirty="0"/>
              <a:t> </a:t>
            </a:r>
            <a:r>
              <a:rPr sz="1400" dirty="0" err="1"/>
              <a:t>sefer</a:t>
            </a:r>
            <a:r>
              <a:rPr sz="1400" dirty="0"/>
              <a:t> </a:t>
            </a:r>
            <a:r>
              <a:rPr sz="1400" dirty="0" err="1"/>
              <a:t>planını</a:t>
            </a:r>
            <a:r>
              <a:rPr sz="1400" dirty="0"/>
              <a:t> </a:t>
            </a:r>
            <a:r>
              <a:rPr sz="1400" dirty="0" err="1"/>
              <a:t>bozması</a:t>
            </a:r>
            <a:r>
              <a:rPr sz="1400" dirty="0"/>
              <a:t>.</a:t>
            </a:r>
            <a:endParaRPr sz="1400" dirty="0">
              <a:ea typeface="Calibri"/>
              <a:cs typeface="Calibri"/>
            </a:endParaRPr>
          </a:p>
          <a:p>
            <a:pPr>
              <a:defRPr sz="950">
                <a:solidFill>
                  <a:srgbClr val="E2E8F0"/>
                </a:solidFill>
              </a:defRPr>
            </a:pPr>
            <a:endParaRPr lang="en-US" sz="1400" dirty="0"/>
          </a:p>
          <a:p>
            <a:pPr>
              <a:defRPr sz="950">
                <a:solidFill>
                  <a:srgbClr val="E2E8F0"/>
                </a:solidFill>
              </a:defRPr>
            </a:pPr>
            <a:r>
              <a:rPr sz="1400" dirty="0"/>
              <a:t>• </a:t>
            </a:r>
            <a:r>
              <a:rPr sz="1400" err="1"/>
              <a:t>Araç</a:t>
            </a:r>
            <a:r>
              <a:rPr sz="1400" dirty="0"/>
              <a:t>-Paket </a:t>
            </a:r>
            <a:r>
              <a:rPr sz="1400" err="1"/>
              <a:t>Uyumsuzluğu</a:t>
            </a:r>
            <a:r>
              <a:rPr sz="1400" dirty="0"/>
              <a:t>: </a:t>
            </a:r>
            <a:r>
              <a:rPr sz="1400" err="1"/>
              <a:t>Ağır</a:t>
            </a:r>
            <a:r>
              <a:rPr sz="1400" dirty="0"/>
              <a:t> </a:t>
            </a:r>
            <a:r>
              <a:rPr sz="1400" err="1"/>
              <a:t>ve</a:t>
            </a:r>
            <a:r>
              <a:rPr sz="1400" dirty="0"/>
              <a:t> </a:t>
            </a:r>
            <a:r>
              <a:rPr sz="1400" err="1"/>
              <a:t>hacimli</a:t>
            </a:r>
            <a:r>
              <a:rPr sz="1400" dirty="0"/>
              <a:t> </a:t>
            </a:r>
            <a:r>
              <a:rPr sz="1400" err="1"/>
              <a:t>kargoların</a:t>
            </a:r>
            <a:r>
              <a:rPr sz="1400" dirty="0"/>
              <a:t> </a:t>
            </a:r>
            <a:r>
              <a:rPr sz="1400" err="1"/>
              <a:t>motokuryelere</a:t>
            </a:r>
            <a:r>
              <a:rPr sz="1400" dirty="0"/>
              <a:t>, </a:t>
            </a:r>
            <a:r>
              <a:rPr sz="1400" err="1"/>
              <a:t>hafif</a:t>
            </a:r>
            <a:r>
              <a:rPr sz="1400" dirty="0"/>
              <a:t> </a:t>
            </a:r>
            <a:r>
              <a:rPr sz="1400" err="1"/>
              <a:t>zarfların</a:t>
            </a:r>
            <a:r>
              <a:rPr sz="1400" dirty="0"/>
              <a:t> </a:t>
            </a:r>
            <a:r>
              <a:rPr sz="1400" err="1"/>
              <a:t>büyük</a:t>
            </a:r>
            <a:r>
              <a:rPr sz="1400" dirty="0"/>
              <a:t> </a:t>
            </a:r>
            <a:r>
              <a:rPr sz="1400" err="1"/>
              <a:t>kamyonlara</a:t>
            </a:r>
            <a:r>
              <a:rPr sz="1400" dirty="0"/>
              <a:t> </a:t>
            </a:r>
            <a:r>
              <a:rPr sz="1400" err="1"/>
              <a:t>atanması</a:t>
            </a:r>
            <a:r>
              <a:rPr sz="1400" dirty="0"/>
              <a:t> </a:t>
            </a:r>
            <a:r>
              <a:rPr sz="1400" err="1"/>
              <a:t>israfı</a:t>
            </a:r>
            <a:r>
              <a:rPr sz="1400" dirty="0"/>
              <a:t>.</a:t>
            </a:r>
            <a:endParaRPr sz="1400" dirty="0">
              <a:ea typeface="Calibri"/>
              <a:cs typeface="Calibri"/>
            </a:endParaRPr>
          </a:p>
          <a:p>
            <a:pPr>
              <a:defRPr sz="950">
                <a:solidFill>
                  <a:srgbClr val="E2E8F0"/>
                </a:solidFill>
              </a:defRPr>
            </a:pPr>
            <a:endParaRPr lang="en-US" sz="1400" dirty="0">
              <a:ea typeface="Calibri"/>
              <a:cs typeface="Calibri"/>
            </a:endParaRPr>
          </a:p>
          <a:p>
            <a:pPr>
              <a:defRPr sz="950">
                <a:solidFill>
                  <a:srgbClr val="E2E8F0"/>
                </a:solidFill>
              </a:defRPr>
            </a:pPr>
            <a:r>
              <a:rPr sz="1400" dirty="0"/>
              <a:t>• İade Toplama Karmaşası: Teslimat </a:t>
            </a:r>
            <a:r>
              <a:rPr lang="en-US" sz="1400" dirty="0" err="1"/>
              <a:t>dönüşünde</a:t>
            </a:r>
            <a:r>
              <a:rPr sz="1400" dirty="0"/>
              <a:t> </a:t>
            </a:r>
            <a:r>
              <a:rPr sz="1400" dirty="0" err="1"/>
              <a:t>satıcı</a:t>
            </a:r>
            <a:r>
              <a:rPr sz="1400" dirty="0"/>
              <a:t> </a:t>
            </a:r>
            <a:r>
              <a:rPr sz="1400" dirty="0" err="1"/>
              <a:t>iadelerinin</a:t>
            </a:r>
            <a:r>
              <a:rPr sz="1400" dirty="0"/>
              <a:t> </a:t>
            </a:r>
            <a:r>
              <a:rPr sz="1400" dirty="0" err="1"/>
              <a:t>toplanamaması</a:t>
            </a:r>
            <a:r>
              <a:rPr sz="1400" dirty="0"/>
              <a:t> </a:t>
            </a:r>
            <a:r>
              <a:rPr sz="1400" dirty="0" err="1"/>
              <a:t>ve</a:t>
            </a:r>
            <a:r>
              <a:rPr sz="1400" dirty="0"/>
              <a:t> </a:t>
            </a:r>
            <a:r>
              <a:rPr sz="1400" dirty="0" err="1"/>
              <a:t>mükerrer</a:t>
            </a:r>
            <a:r>
              <a:rPr sz="1400" dirty="0"/>
              <a:t> </a:t>
            </a:r>
            <a:r>
              <a:rPr sz="1400" dirty="0" err="1"/>
              <a:t>araç</a:t>
            </a:r>
            <a:r>
              <a:rPr sz="1400" dirty="0"/>
              <a:t> </a:t>
            </a:r>
            <a:r>
              <a:rPr sz="1400" dirty="0" err="1"/>
              <a:t>sefere</a:t>
            </a:r>
            <a:r>
              <a:rPr sz="1400" dirty="0"/>
              <a:t> </a:t>
            </a:r>
            <a:r>
              <a:rPr sz="1400" dirty="0" err="1"/>
              <a:t>çıkarılması</a:t>
            </a:r>
            <a:r>
              <a:rPr sz="1400" dirty="0"/>
              <a:t>.</a:t>
            </a:r>
            <a:endParaRPr lang="en-US" sz="1400" dirty="0"/>
          </a:p>
          <a:p>
            <a:pPr>
              <a:defRPr sz="950">
                <a:solidFill>
                  <a:srgbClr val="E2E8F0"/>
                </a:solidFill>
              </a:defRPr>
            </a:pPr>
            <a:endParaRPr lang="en-US" sz="1400" dirty="0">
              <a:ea typeface="Calibri"/>
              <a:cs typeface="Calibri"/>
            </a:endParaRPr>
          </a:p>
          <a:p>
            <a:pPr>
              <a:defRPr sz="950">
                <a:solidFill>
                  <a:srgbClr val="E2E8F0"/>
                </a:solidFill>
              </a:defRPr>
            </a:pPr>
            <a:r>
              <a:rPr sz="1400" dirty="0"/>
              <a:t>• Zaman </a:t>
            </a:r>
            <a:r>
              <a:rPr sz="1400" err="1"/>
              <a:t>Penceresi</a:t>
            </a:r>
            <a:r>
              <a:rPr sz="1400" dirty="0"/>
              <a:t> </a:t>
            </a:r>
            <a:r>
              <a:rPr sz="1400" err="1"/>
              <a:t>İhlalleri</a:t>
            </a:r>
            <a:r>
              <a:rPr sz="1400" dirty="0"/>
              <a:t>: </a:t>
            </a:r>
            <a:r>
              <a:rPr sz="1400" err="1"/>
              <a:t>Müşterinin</a:t>
            </a:r>
            <a:r>
              <a:rPr sz="1400" dirty="0"/>
              <a:t> </a:t>
            </a:r>
            <a:r>
              <a:rPr sz="1400" err="1"/>
              <a:t>belirttiği</a:t>
            </a:r>
            <a:r>
              <a:rPr sz="1400" dirty="0"/>
              <a:t> </a:t>
            </a:r>
            <a:r>
              <a:rPr sz="1400" err="1"/>
              <a:t>saat</a:t>
            </a:r>
            <a:r>
              <a:rPr sz="1400" dirty="0"/>
              <a:t> </a:t>
            </a:r>
            <a:r>
              <a:rPr sz="1400" err="1"/>
              <a:t>aralıklarının</a:t>
            </a:r>
            <a:r>
              <a:rPr sz="1400" dirty="0"/>
              <a:t> </a:t>
            </a:r>
            <a:r>
              <a:rPr sz="1400" err="1"/>
              <a:t>kaçırılması</a:t>
            </a:r>
            <a:r>
              <a:rPr sz="1400" dirty="0"/>
              <a:t>, SLA </a:t>
            </a:r>
            <a:r>
              <a:rPr sz="1400" err="1"/>
              <a:t>cezaları</a:t>
            </a:r>
            <a:r>
              <a:rPr sz="1400" dirty="0"/>
              <a:t> </a:t>
            </a:r>
            <a:r>
              <a:rPr sz="1400" err="1"/>
              <a:t>ve</a:t>
            </a:r>
            <a:r>
              <a:rPr sz="1400" dirty="0"/>
              <a:t> </a:t>
            </a:r>
            <a:r>
              <a:rPr sz="1400" err="1"/>
              <a:t>müşteri</a:t>
            </a:r>
            <a:r>
              <a:rPr sz="1400" dirty="0"/>
              <a:t> </a:t>
            </a:r>
            <a:r>
              <a:rPr sz="1400" err="1"/>
              <a:t>kaybı</a:t>
            </a:r>
            <a:r>
              <a:rPr sz="1400" dirty="0"/>
              <a:t>.</a:t>
            </a:r>
            <a:endParaRPr sz="1400" dirty="0">
              <a:ea typeface="Calibri"/>
              <a:cs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1C254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rPr dirty="0"/>
              <a:t>✅ Route Optimizer </a:t>
            </a:r>
            <a:r>
              <a:rPr dirty="0" err="1"/>
              <a:t>ile</a:t>
            </a:r>
            <a:r>
              <a:rPr dirty="0"/>
              <a:t> </a:t>
            </a:r>
            <a:r>
              <a:rPr dirty="0" err="1"/>
              <a:t>Getirilen</a:t>
            </a:r>
            <a:r>
              <a:rPr dirty="0"/>
              <a:t> </a:t>
            </a:r>
            <a:r>
              <a:rPr dirty="0" err="1"/>
              <a:t>Çözümler</a:t>
            </a:r>
            <a:endParaRPr lang="en-US" dirty="0" err="1">
              <a:ea typeface="Calibri"/>
              <a:cs typeface="Calibri"/>
            </a:endParaRPr>
          </a:p>
          <a:p>
            <a:pPr algn="ctr">
              <a:defRPr sz="950">
                <a:solidFill>
                  <a:srgbClr val="E2E8F0"/>
                </a:solidFill>
              </a:defRPr>
            </a:pPr>
            <a:endParaRPr lang="en-US" sz="1400" b="1" dirty="0">
              <a:solidFill>
                <a:srgbClr val="10B981"/>
              </a:solidFill>
            </a:endParaRPr>
          </a:p>
          <a:p>
            <a:pPr>
              <a:defRPr sz="950">
                <a:solidFill>
                  <a:srgbClr val="E2E8F0"/>
                </a:solidFill>
              </a:defRPr>
            </a:pPr>
            <a:r>
              <a:rPr sz="1400" dirty="0"/>
              <a:t>• Gerçek Karayolu Ağı (ORS): </a:t>
            </a:r>
            <a:r>
              <a:rPr sz="1400" dirty="0" err="1"/>
              <a:t>Noktalar</a:t>
            </a:r>
            <a:r>
              <a:rPr sz="1400" dirty="0"/>
              <a:t> </a:t>
            </a:r>
            <a:r>
              <a:rPr sz="1400" dirty="0" err="1"/>
              <a:t>arası</a:t>
            </a:r>
            <a:r>
              <a:rPr sz="1400" dirty="0"/>
              <a:t> </a:t>
            </a:r>
            <a:r>
              <a:rPr sz="1400" dirty="0" err="1"/>
              <a:t>gerçek</a:t>
            </a:r>
            <a:r>
              <a:rPr sz="1400" dirty="0"/>
              <a:t> </a:t>
            </a:r>
            <a:r>
              <a:rPr sz="1400" dirty="0" err="1"/>
              <a:t>sürüş</a:t>
            </a:r>
            <a:endParaRPr lang="en-US" sz="1400" dirty="0" err="1"/>
          </a:p>
          <a:p>
            <a:pPr>
              <a:defRPr sz="950">
                <a:solidFill>
                  <a:srgbClr val="E2E8F0"/>
                </a:solidFill>
              </a:defRPr>
            </a:pPr>
            <a:r>
              <a:rPr lang="en-US" sz="1400" dirty="0"/>
              <a:t> </a:t>
            </a:r>
            <a:r>
              <a:rPr sz="1400" dirty="0" err="1"/>
              <a:t>mesafesi</a:t>
            </a:r>
            <a:r>
              <a:rPr sz="1400" dirty="0"/>
              <a:t> </a:t>
            </a:r>
            <a:r>
              <a:rPr sz="1400" dirty="0" err="1"/>
              <a:t>ve</a:t>
            </a:r>
            <a:r>
              <a:rPr sz="1400" dirty="0"/>
              <a:t> </a:t>
            </a:r>
            <a:r>
              <a:rPr sz="1400" dirty="0" err="1"/>
              <a:t>süresi</a:t>
            </a:r>
            <a:r>
              <a:rPr sz="1400" dirty="0"/>
              <a:t> </a:t>
            </a:r>
            <a:r>
              <a:rPr sz="1400" dirty="0" err="1"/>
              <a:t>matrisiyle</a:t>
            </a:r>
            <a:r>
              <a:rPr sz="1400" dirty="0"/>
              <a:t> %98 </a:t>
            </a:r>
            <a:r>
              <a:rPr sz="1400" dirty="0" err="1"/>
              <a:t>doğrulukta</a:t>
            </a:r>
            <a:r>
              <a:rPr sz="1400" dirty="0"/>
              <a:t> </a:t>
            </a:r>
            <a:r>
              <a:rPr sz="1400" dirty="0" err="1"/>
              <a:t>rota</a:t>
            </a:r>
            <a:r>
              <a:rPr sz="1400" dirty="0"/>
              <a:t> </a:t>
            </a:r>
            <a:r>
              <a:rPr sz="1400" dirty="0" err="1"/>
              <a:t>oluşturma</a:t>
            </a:r>
            <a:r>
              <a:rPr sz="1400" dirty="0"/>
              <a:t>.</a:t>
            </a:r>
            <a:endParaRPr sz="1400">
              <a:ea typeface="Calibri"/>
              <a:cs typeface="Calibri"/>
            </a:endParaRPr>
          </a:p>
          <a:p>
            <a:pPr>
              <a:defRPr sz="950">
                <a:solidFill>
                  <a:srgbClr val="E2E8F0"/>
                </a:solidFill>
              </a:defRPr>
            </a:pPr>
            <a:endParaRPr lang="en-US" sz="1400" dirty="0"/>
          </a:p>
          <a:p>
            <a:pPr>
              <a:defRPr sz="950">
                <a:solidFill>
                  <a:srgbClr val="E2E8F0"/>
                </a:solidFill>
              </a:defRPr>
            </a:pPr>
            <a:r>
              <a:rPr sz="1400" dirty="0"/>
              <a:t>• Çift Kapasite Denetimi: </a:t>
            </a:r>
            <a:r>
              <a:rPr sz="1400" dirty="0" err="1"/>
              <a:t>Aynı</a:t>
            </a:r>
            <a:r>
              <a:rPr sz="1400" dirty="0"/>
              <a:t> </a:t>
            </a:r>
            <a:r>
              <a:rPr sz="1400" dirty="0" err="1"/>
              <a:t>anda</a:t>
            </a:r>
            <a:r>
              <a:rPr sz="1400" dirty="0"/>
              <a:t> hem Kilogram (kg) hem de Hacim (desi) </a:t>
            </a:r>
            <a:r>
              <a:rPr sz="1400" dirty="0" err="1"/>
              <a:t>sınırlarını</a:t>
            </a:r>
            <a:r>
              <a:rPr sz="1400" dirty="0"/>
              <a:t> </a:t>
            </a:r>
            <a:r>
              <a:rPr sz="1400" dirty="0" err="1"/>
              <a:t>eşzamanlı</a:t>
            </a:r>
            <a:r>
              <a:rPr sz="1400" dirty="0"/>
              <a:t> </a:t>
            </a:r>
            <a:r>
              <a:rPr sz="1400" dirty="0" err="1"/>
              <a:t>denetleme</a:t>
            </a:r>
            <a:r>
              <a:rPr sz="1400" dirty="0"/>
              <a:t>.</a:t>
            </a:r>
            <a:endParaRPr sz="1400" dirty="0">
              <a:ea typeface="Calibri"/>
              <a:cs typeface="Calibri"/>
            </a:endParaRPr>
          </a:p>
          <a:p>
            <a:pPr>
              <a:defRPr sz="950">
                <a:solidFill>
                  <a:srgbClr val="E2E8F0"/>
                </a:solidFill>
              </a:defRPr>
            </a:pPr>
            <a:endParaRPr lang="en-US" sz="1400" dirty="0"/>
          </a:p>
          <a:p>
            <a:pPr>
              <a:defRPr sz="950">
                <a:solidFill>
                  <a:srgbClr val="E2E8F0"/>
                </a:solidFill>
              </a:defRPr>
            </a:pPr>
            <a:r>
              <a:rPr sz="1400" dirty="0"/>
              <a:t>• Kural </a:t>
            </a:r>
            <a:r>
              <a:rPr sz="1400" dirty="0" err="1"/>
              <a:t>Tabanlı</a:t>
            </a:r>
            <a:r>
              <a:rPr sz="1400" dirty="0"/>
              <a:t> Akıllı Atama: </a:t>
            </a:r>
            <a:r>
              <a:rPr sz="1400" dirty="0" err="1"/>
              <a:t>Motosiklet</a:t>
            </a:r>
            <a:r>
              <a:rPr sz="1400" dirty="0"/>
              <a:t>, </a:t>
            </a:r>
            <a:r>
              <a:rPr sz="1400" dirty="0" err="1"/>
              <a:t>Panelvan</a:t>
            </a:r>
            <a:r>
              <a:rPr sz="1400" dirty="0"/>
              <a:t> </a:t>
            </a:r>
            <a:r>
              <a:rPr sz="1400" dirty="0" err="1"/>
              <a:t>ve</a:t>
            </a:r>
            <a:r>
              <a:rPr sz="1400" dirty="0"/>
              <a:t> </a:t>
            </a:r>
            <a:r>
              <a:rPr sz="1400" dirty="0" err="1"/>
              <a:t>Kamyonet</a:t>
            </a:r>
            <a:r>
              <a:rPr sz="1400" dirty="0"/>
              <a:t> </a:t>
            </a:r>
            <a:r>
              <a:rPr sz="1400" dirty="0" err="1"/>
              <a:t>tipine</a:t>
            </a:r>
            <a:r>
              <a:rPr sz="1400" dirty="0"/>
              <a:t> </a:t>
            </a:r>
            <a:r>
              <a:rPr sz="1400" dirty="0" err="1"/>
              <a:t>göre</a:t>
            </a:r>
            <a:r>
              <a:rPr sz="1400" dirty="0"/>
              <a:t> </a:t>
            </a:r>
            <a:r>
              <a:rPr sz="1400" dirty="0" err="1"/>
              <a:t>paket</a:t>
            </a:r>
            <a:r>
              <a:rPr sz="1400" dirty="0"/>
              <a:t> </a:t>
            </a:r>
            <a:r>
              <a:rPr sz="1400" dirty="0" err="1"/>
              <a:t>ağırlık</a:t>
            </a:r>
            <a:r>
              <a:rPr sz="1400" dirty="0"/>
              <a:t> </a:t>
            </a:r>
            <a:r>
              <a:rPr sz="1400" dirty="0" err="1"/>
              <a:t>ve</a:t>
            </a:r>
            <a:r>
              <a:rPr sz="1400" dirty="0"/>
              <a:t> desi </a:t>
            </a:r>
            <a:r>
              <a:rPr sz="1400" dirty="0" err="1"/>
              <a:t>kısıtlarını</a:t>
            </a:r>
            <a:r>
              <a:rPr sz="1400" dirty="0"/>
              <a:t> </a:t>
            </a:r>
            <a:r>
              <a:rPr sz="1400" dirty="0" err="1"/>
              <a:t>zorunlu</a:t>
            </a:r>
            <a:r>
              <a:rPr sz="1400" dirty="0"/>
              <a:t> </a:t>
            </a:r>
            <a:r>
              <a:rPr sz="1400" dirty="0" err="1"/>
              <a:t>kılma</a:t>
            </a:r>
            <a:r>
              <a:rPr sz="1400" dirty="0"/>
              <a:t>.</a:t>
            </a:r>
            <a:endParaRPr sz="1400" dirty="0">
              <a:ea typeface="Calibri"/>
              <a:cs typeface="Calibri"/>
            </a:endParaRPr>
          </a:p>
          <a:p>
            <a:pPr>
              <a:defRPr sz="950">
                <a:solidFill>
                  <a:srgbClr val="E2E8F0"/>
                </a:solidFill>
              </a:defRPr>
            </a:pPr>
            <a:endParaRPr lang="en-US" sz="1400" dirty="0"/>
          </a:p>
          <a:p>
            <a:pPr>
              <a:defRPr sz="950">
                <a:solidFill>
                  <a:srgbClr val="E2E8F0"/>
                </a:solidFill>
              </a:defRPr>
            </a:pPr>
            <a:r>
              <a:rPr sz="1400" dirty="0"/>
              <a:t>• </a:t>
            </a:r>
            <a:r>
              <a:rPr sz="1400" dirty="0" err="1"/>
              <a:t>Entegre</a:t>
            </a:r>
            <a:r>
              <a:rPr sz="1400" dirty="0"/>
              <a:t> Backhaul </a:t>
            </a:r>
            <a:r>
              <a:rPr sz="1400" dirty="0" err="1"/>
              <a:t>Modeli</a:t>
            </a:r>
            <a:r>
              <a:rPr sz="1400" dirty="0"/>
              <a:t>: Teslimat </a:t>
            </a:r>
            <a:r>
              <a:rPr sz="1400" dirty="0" err="1"/>
              <a:t>yaparken</a:t>
            </a:r>
            <a:r>
              <a:rPr sz="1400" dirty="0"/>
              <a:t> </a:t>
            </a:r>
            <a:r>
              <a:rPr sz="1400" dirty="0" err="1"/>
              <a:t>dönüş</a:t>
            </a:r>
            <a:r>
              <a:rPr sz="1400" dirty="0"/>
              <a:t> </a:t>
            </a:r>
            <a:r>
              <a:rPr sz="1400" dirty="0" err="1"/>
              <a:t>güzergahında</a:t>
            </a:r>
            <a:r>
              <a:rPr sz="1400" dirty="0"/>
              <a:t> </a:t>
            </a:r>
            <a:r>
              <a:rPr sz="1400" dirty="0" err="1"/>
              <a:t>satıcı</a:t>
            </a:r>
            <a:r>
              <a:rPr sz="1400" dirty="0"/>
              <a:t> </a:t>
            </a:r>
            <a:r>
              <a:rPr sz="1400" dirty="0" err="1"/>
              <a:t>iadelerini</a:t>
            </a:r>
            <a:r>
              <a:rPr sz="1400" dirty="0"/>
              <a:t> </a:t>
            </a:r>
            <a:r>
              <a:rPr sz="1400" dirty="0" err="1"/>
              <a:t>dinamik</a:t>
            </a:r>
            <a:r>
              <a:rPr sz="1400" dirty="0"/>
              <a:t> </a:t>
            </a:r>
            <a:r>
              <a:rPr sz="1400" dirty="0" err="1"/>
              <a:t>yük</a:t>
            </a:r>
            <a:r>
              <a:rPr sz="1400" dirty="0"/>
              <a:t> </a:t>
            </a:r>
            <a:r>
              <a:rPr sz="1400" dirty="0" err="1"/>
              <a:t>kontrolüyle</a:t>
            </a:r>
            <a:r>
              <a:rPr sz="1400" dirty="0"/>
              <a:t> </a:t>
            </a:r>
            <a:r>
              <a:rPr sz="1400" dirty="0" err="1"/>
              <a:t>toplama</a:t>
            </a:r>
            <a:r>
              <a:rPr sz="1400" dirty="0"/>
              <a:t>.</a:t>
            </a:r>
            <a:endParaRPr sz="1400" dirty="0">
              <a:ea typeface="Calibri"/>
              <a:cs typeface="Calibri"/>
            </a:endParaRPr>
          </a:p>
          <a:p>
            <a:pPr>
              <a:defRPr sz="950">
                <a:solidFill>
                  <a:srgbClr val="E2E8F0"/>
                </a:solidFill>
              </a:defRPr>
            </a:pPr>
            <a:endParaRPr lang="en-US" sz="1400" dirty="0"/>
          </a:p>
          <a:p>
            <a:pPr>
              <a:defRPr sz="950">
                <a:solidFill>
                  <a:srgbClr val="E2E8F0"/>
                </a:solidFill>
              </a:defRPr>
            </a:pPr>
            <a:r>
              <a:rPr sz="1400" dirty="0"/>
              <a:t>• Soft SLA &amp; </a:t>
            </a:r>
            <a:r>
              <a:rPr sz="1400" dirty="0" err="1"/>
              <a:t>Öncelik</a:t>
            </a:r>
            <a:r>
              <a:rPr sz="1400" dirty="0"/>
              <a:t> </a:t>
            </a:r>
            <a:r>
              <a:rPr sz="1400" dirty="0" err="1"/>
              <a:t>Yönetimi</a:t>
            </a:r>
            <a:r>
              <a:rPr sz="1400" dirty="0"/>
              <a:t>: Express </a:t>
            </a:r>
            <a:r>
              <a:rPr sz="1400" dirty="0" err="1"/>
              <a:t>kargolara</a:t>
            </a:r>
            <a:r>
              <a:rPr sz="1400" dirty="0"/>
              <a:t> </a:t>
            </a:r>
            <a:r>
              <a:rPr sz="1400" dirty="0" err="1"/>
              <a:t>yüksek</a:t>
            </a:r>
            <a:r>
              <a:rPr sz="1400" dirty="0"/>
              <a:t> </a:t>
            </a:r>
            <a:r>
              <a:rPr sz="1400" dirty="0" err="1"/>
              <a:t>gecikme</a:t>
            </a:r>
            <a:r>
              <a:rPr sz="1400" dirty="0"/>
              <a:t> </a:t>
            </a:r>
            <a:r>
              <a:rPr sz="1400" dirty="0" err="1"/>
              <a:t>cezası</a:t>
            </a:r>
            <a:r>
              <a:rPr sz="1400" dirty="0"/>
              <a:t> </a:t>
            </a:r>
            <a:r>
              <a:rPr sz="1400" dirty="0" err="1"/>
              <a:t>tanımlayarak</a:t>
            </a:r>
            <a:r>
              <a:rPr sz="1400" dirty="0"/>
              <a:t> </a:t>
            </a:r>
            <a:r>
              <a:rPr sz="1400" dirty="0" err="1"/>
              <a:t>zamanında</a:t>
            </a:r>
            <a:r>
              <a:rPr sz="1400" dirty="0"/>
              <a:t> </a:t>
            </a:r>
            <a:r>
              <a:rPr sz="1400" dirty="0" err="1"/>
              <a:t>teslimat</a:t>
            </a:r>
            <a:r>
              <a:rPr sz="1400" dirty="0"/>
              <a:t> </a:t>
            </a:r>
            <a:r>
              <a:rPr sz="1400" dirty="0" err="1"/>
              <a:t>garantisi</a:t>
            </a:r>
            <a:r>
              <a:rPr sz="1400" dirty="0"/>
              <a:t>.</a:t>
            </a:r>
            <a:endParaRPr sz="14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02 / MODÜLER MIMARI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Uçtan Uca Modüler Süreç Akışı (Pipeline Mimarisi)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1887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 b="1">
                <a:solidFill>
                  <a:srgbClr val="10B981"/>
                </a:solidFill>
                <a:latin typeface="Segoe UI"/>
              </a:defRPr>
            </a:pPr>
            <a:r>
              <a:t>03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383280" cy="2286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rPr sz="1600" dirty="0"/>
              <a:t>MODÜL 0 &amp; 1</a:t>
            </a:r>
            <a:endParaRPr lang="en-US" sz="1600">
              <a:ea typeface="Calibri"/>
              <a:cs typeface="Calibri"/>
            </a:endParaRP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rPr sz="1600" dirty="0"/>
              <a:t>Veri </a:t>
            </a:r>
            <a:r>
              <a:rPr sz="1600" dirty="0" err="1"/>
              <a:t>Yükleme</a:t>
            </a:r>
            <a:r>
              <a:rPr sz="1600" dirty="0"/>
              <a:t> &amp; </a:t>
            </a:r>
            <a:r>
              <a:rPr sz="1600" dirty="0" err="1"/>
              <a:t>Doğrulama</a:t>
            </a:r>
            <a:endParaRPr sz="1600">
              <a:ea typeface="Calibri"/>
              <a:cs typeface="Calibri"/>
            </a:endParaRPr>
          </a:p>
          <a:p>
            <a:pPr>
              <a:defRPr sz="900">
                <a:solidFill>
                  <a:srgbClr val="94A3B8"/>
                </a:solidFill>
              </a:defRPr>
            </a:pPr>
            <a:r>
              <a:rPr sz="1600" dirty="0"/>
              <a:t>araclar.csv </a:t>
            </a:r>
            <a:r>
              <a:rPr sz="1600" dirty="0" err="1"/>
              <a:t>ve</a:t>
            </a:r>
            <a:r>
              <a:rPr sz="1600" dirty="0"/>
              <a:t> siparisler.csv </a:t>
            </a:r>
            <a:r>
              <a:rPr sz="1600" dirty="0" err="1"/>
              <a:t>verilerini</a:t>
            </a:r>
            <a:r>
              <a:rPr sz="1600" dirty="0"/>
              <a:t> </a:t>
            </a:r>
            <a:r>
              <a:rPr sz="1600" dirty="0" err="1"/>
              <a:t>okur</a:t>
            </a:r>
            <a:r>
              <a:rPr sz="1600" dirty="0"/>
              <a:t>, </a:t>
            </a:r>
            <a:r>
              <a:rPr sz="1600" dirty="0" err="1"/>
              <a:t>eksik</a:t>
            </a:r>
            <a:r>
              <a:rPr sz="1600" dirty="0"/>
              <a:t> </a:t>
            </a:r>
            <a:r>
              <a:rPr sz="1600" dirty="0" err="1"/>
              <a:t>alanları</a:t>
            </a:r>
            <a:r>
              <a:rPr sz="1600" dirty="0"/>
              <a:t> </a:t>
            </a:r>
            <a:r>
              <a:rPr sz="1600" dirty="0" err="1"/>
              <a:t>ve</a:t>
            </a:r>
            <a:r>
              <a:rPr sz="1600" dirty="0"/>
              <a:t> </a:t>
            </a:r>
            <a:r>
              <a:rPr sz="1600" dirty="0" err="1"/>
              <a:t>boyutlardan</a:t>
            </a:r>
            <a:r>
              <a:rPr sz="1600" dirty="0"/>
              <a:t> Desi </a:t>
            </a:r>
            <a:r>
              <a:rPr sz="1600" dirty="0" err="1"/>
              <a:t>hesabını</a:t>
            </a:r>
            <a:r>
              <a:rPr sz="1600" dirty="0"/>
              <a:t> </a:t>
            </a:r>
            <a:r>
              <a:rPr sz="1600" dirty="0" err="1"/>
              <a:t>doğrular</a:t>
            </a:r>
            <a:r>
              <a:rPr sz="1600" dirty="0"/>
              <a:t>.</a:t>
            </a:r>
            <a:endParaRPr sz="1600">
              <a:ea typeface="Calibri"/>
              <a:cs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389120" y="1280160"/>
            <a:ext cx="3383280" cy="2286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1000" b="1">
                <a:solidFill>
                  <a:srgbClr val="3B82F6"/>
                </a:solidFill>
              </a:defRPr>
            </a:pPr>
            <a:r>
              <a:rPr sz="1600" dirty="0"/>
              <a:t>MODÜL 2</a:t>
            </a:r>
            <a:endParaRPr lang="en-US" sz="1600" dirty="0">
              <a:ea typeface="Calibri"/>
              <a:cs typeface="Calibri"/>
            </a:endParaRP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rPr sz="1600" dirty="0"/>
              <a:t>Akıllı Geocoding</a:t>
            </a:r>
            <a:endParaRPr sz="1600" dirty="0">
              <a:ea typeface="Calibri"/>
              <a:cs typeface="Calibri"/>
            </a:endParaRPr>
          </a:p>
          <a:p>
            <a:pPr>
              <a:defRPr sz="900">
                <a:solidFill>
                  <a:srgbClr val="94A3B8"/>
                </a:solidFill>
              </a:defRPr>
            </a:pPr>
            <a:r>
              <a:rPr sz="1600" dirty="0"/>
              <a:t>ORS Pelias API + Focus Point </a:t>
            </a:r>
            <a:r>
              <a:rPr sz="1600" dirty="0" err="1"/>
              <a:t>ile</a:t>
            </a:r>
            <a:r>
              <a:rPr sz="1600" dirty="0"/>
              <a:t> </a:t>
            </a:r>
            <a:r>
              <a:rPr sz="1600" dirty="0" err="1"/>
              <a:t>metin</a:t>
            </a:r>
            <a:r>
              <a:rPr sz="1600" dirty="0"/>
              <a:t> </a:t>
            </a:r>
            <a:r>
              <a:rPr sz="1600" dirty="0" err="1"/>
              <a:t>adresleri</a:t>
            </a:r>
            <a:r>
              <a:rPr sz="1600" dirty="0"/>
              <a:t> </a:t>
            </a:r>
            <a:r>
              <a:rPr sz="1600" dirty="0" err="1"/>
              <a:t>gerçek</a:t>
            </a:r>
            <a:r>
              <a:rPr sz="1600" dirty="0"/>
              <a:t> </a:t>
            </a:r>
            <a:r>
              <a:rPr sz="1600" dirty="0" err="1"/>
              <a:t>koordinatlara</a:t>
            </a:r>
            <a:r>
              <a:rPr sz="1600" dirty="0"/>
              <a:t> </a:t>
            </a:r>
            <a:r>
              <a:rPr sz="1600" dirty="0" err="1"/>
              <a:t>çevirir</a:t>
            </a:r>
            <a:r>
              <a:rPr sz="1600" dirty="0"/>
              <a:t>, cache </a:t>
            </a:r>
            <a:r>
              <a:rPr sz="1600" dirty="0" err="1"/>
              <a:t>ile</a:t>
            </a:r>
            <a:r>
              <a:rPr sz="1600" dirty="0"/>
              <a:t> </a:t>
            </a:r>
            <a:r>
              <a:rPr sz="1600" dirty="0" err="1"/>
              <a:t>kotayı</a:t>
            </a:r>
            <a:r>
              <a:rPr sz="1600" dirty="0"/>
              <a:t> </a:t>
            </a:r>
            <a:r>
              <a:rPr sz="1600" dirty="0" err="1"/>
              <a:t>koru</a:t>
            </a:r>
            <a:r>
              <a:rPr dirty="0" err="1"/>
              <a:t>r</a:t>
            </a:r>
            <a:r>
              <a:rPr dirty="0"/>
              <a:t>.</a:t>
            </a:r>
            <a:endParaRPr dirty="0">
              <a:ea typeface="Calibri"/>
              <a:cs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046720" y="1280160"/>
            <a:ext cx="3383280" cy="2286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rPr sz="1600" dirty="0"/>
              <a:t>MODÜL 3</a:t>
            </a:r>
            <a:endParaRPr lang="en-US" sz="1600" dirty="0">
              <a:ea typeface="Calibri"/>
              <a:cs typeface="Calibri"/>
            </a:endParaRP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rPr sz="1600" dirty="0"/>
              <a:t>Gerçek Yol Matrisi</a:t>
            </a:r>
            <a:endParaRPr sz="1600" dirty="0">
              <a:ea typeface="Calibri"/>
              <a:cs typeface="Calibri"/>
            </a:endParaRPr>
          </a:p>
          <a:p>
            <a:pPr>
              <a:defRPr sz="900">
                <a:solidFill>
                  <a:srgbClr val="94A3B8"/>
                </a:solidFill>
              </a:defRPr>
            </a:pPr>
            <a:r>
              <a:rPr sz="1600" dirty="0"/>
              <a:t>Depo </a:t>
            </a:r>
            <a:r>
              <a:rPr sz="1600" dirty="0" err="1"/>
              <a:t>ve</a:t>
            </a:r>
            <a:r>
              <a:rPr sz="1600" dirty="0"/>
              <a:t> </a:t>
            </a:r>
            <a:r>
              <a:rPr sz="1600" dirty="0" err="1"/>
              <a:t>tüm</a:t>
            </a:r>
            <a:r>
              <a:rPr sz="1600" dirty="0"/>
              <a:t> </a:t>
            </a:r>
            <a:r>
              <a:rPr sz="1600" dirty="0" err="1"/>
              <a:t>duraklar</a:t>
            </a:r>
            <a:r>
              <a:rPr sz="1600" dirty="0"/>
              <a:t> </a:t>
            </a:r>
            <a:r>
              <a:rPr sz="1600" dirty="0" err="1"/>
              <a:t>arası</a:t>
            </a:r>
            <a:r>
              <a:rPr sz="1600" dirty="0"/>
              <a:t> </a:t>
            </a:r>
            <a:r>
              <a:rPr sz="1600" dirty="0" err="1"/>
              <a:t>gerçek</a:t>
            </a:r>
            <a:r>
              <a:rPr sz="1600" dirty="0"/>
              <a:t> </a:t>
            </a:r>
            <a:r>
              <a:rPr sz="1600" dirty="0" err="1"/>
              <a:t>sürüş</a:t>
            </a:r>
            <a:r>
              <a:rPr sz="1600" dirty="0"/>
              <a:t> </a:t>
            </a:r>
            <a:r>
              <a:rPr sz="1600" dirty="0" err="1"/>
              <a:t>mesafesi</a:t>
            </a:r>
            <a:r>
              <a:rPr sz="1600" dirty="0"/>
              <a:t> (m) </a:t>
            </a:r>
            <a:r>
              <a:rPr sz="1600" dirty="0" err="1"/>
              <a:t>ve</a:t>
            </a:r>
            <a:r>
              <a:rPr sz="1600" dirty="0"/>
              <a:t> </a:t>
            </a:r>
            <a:r>
              <a:rPr sz="1600" dirty="0" err="1"/>
              <a:t>süresi</a:t>
            </a:r>
            <a:r>
              <a:rPr sz="1600" dirty="0"/>
              <a:t> (</a:t>
            </a:r>
            <a:r>
              <a:rPr sz="1600" dirty="0" err="1"/>
              <a:t>sn</a:t>
            </a:r>
            <a:r>
              <a:rPr sz="1600" dirty="0"/>
              <a:t>) </a:t>
            </a:r>
            <a:r>
              <a:rPr sz="1600" dirty="0" err="1"/>
              <a:t>matrisini</a:t>
            </a:r>
            <a:r>
              <a:rPr sz="1600" dirty="0"/>
              <a:t> </a:t>
            </a:r>
            <a:r>
              <a:rPr sz="1600" dirty="0" err="1"/>
              <a:t>oluşturur</a:t>
            </a:r>
            <a:r>
              <a:rPr sz="1600" dirty="0"/>
              <a:t>.</a:t>
            </a:r>
            <a:endParaRPr sz="1600" dirty="0">
              <a:ea typeface="Calibri"/>
              <a:cs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3383280" cy="2286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1000" b="1">
                <a:solidFill>
                  <a:srgbClr val="A855F7"/>
                </a:solidFill>
              </a:defRPr>
            </a:pPr>
            <a:r>
              <a:rPr sz="1600" dirty="0"/>
              <a:t>MODÜL 4 - 8</a:t>
            </a:r>
            <a:endParaRPr lang="en-US" sz="1600" dirty="0">
              <a:ea typeface="Calibri"/>
              <a:cs typeface="Calibri"/>
            </a:endParaRP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rPr sz="1600" dirty="0" err="1"/>
              <a:t>Çoklu</a:t>
            </a:r>
            <a:r>
              <a:rPr sz="1600" dirty="0"/>
              <a:t> </a:t>
            </a:r>
            <a:r>
              <a:rPr sz="1600" dirty="0" err="1"/>
              <a:t>Kısıt</a:t>
            </a:r>
            <a:r>
              <a:rPr sz="1600" dirty="0"/>
              <a:t> </a:t>
            </a:r>
            <a:r>
              <a:rPr sz="1600" dirty="0" err="1"/>
              <a:t>Modellemesi</a:t>
            </a:r>
            <a:endParaRPr sz="1600" dirty="0" err="1">
              <a:ea typeface="Calibri"/>
              <a:cs typeface="Calibri"/>
            </a:endParaRPr>
          </a:p>
          <a:p>
            <a:pPr>
              <a:defRPr sz="900">
                <a:solidFill>
                  <a:srgbClr val="94A3B8"/>
                </a:solidFill>
              </a:defRPr>
            </a:pPr>
            <a:r>
              <a:rPr sz="1600" dirty="0" err="1"/>
              <a:t>Çift</a:t>
            </a:r>
            <a:r>
              <a:rPr sz="1600" dirty="0"/>
              <a:t> </a:t>
            </a:r>
            <a:r>
              <a:rPr sz="1600" dirty="0" err="1"/>
              <a:t>kapasite</a:t>
            </a:r>
            <a:r>
              <a:rPr sz="1600" dirty="0"/>
              <a:t> (</a:t>
            </a:r>
            <a:r>
              <a:rPr sz="1600" dirty="0" err="1"/>
              <a:t>kg+desi</a:t>
            </a:r>
            <a:r>
              <a:rPr sz="1600" dirty="0"/>
              <a:t>), </a:t>
            </a:r>
            <a:r>
              <a:rPr sz="1600" dirty="0" err="1"/>
              <a:t>heterojen</a:t>
            </a:r>
            <a:r>
              <a:rPr sz="1600" dirty="0"/>
              <a:t> filo, zaman </a:t>
            </a:r>
            <a:r>
              <a:rPr sz="1600" dirty="0" err="1"/>
              <a:t>pencereleri</a:t>
            </a:r>
            <a:r>
              <a:rPr sz="1600" dirty="0"/>
              <a:t>, Soft SLA </a:t>
            </a:r>
            <a:r>
              <a:rPr sz="1600" dirty="0" err="1"/>
              <a:t>cezaları</a:t>
            </a:r>
            <a:r>
              <a:rPr sz="1600" dirty="0"/>
              <a:t> </a:t>
            </a:r>
            <a:r>
              <a:rPr sz="1600" dirty="0" err="1"/>
              <a:t>ve</a:t>
            </a:r>
            <a:r>
              <a:rPr sz="1600" dirty="0"/>
              <a:t> Backhaul </a:t>
            </a:r>
            <a:r>
              <a:rPr sz="1600" dirty="0" err="1"/>
              <a:t>toplama</a:t>
            </a:r>
            <a:r>
              <a:rPr sz="1600" dirty="0"/>
              <a:t>.</a:t>
            </a:r>
            <a:endParaRPr sz="1600" dirty="0">
              <a:ea typeface="Calibri"/>
              <a:cs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89120" y="3840480"/>
            <a:ext cx="3383280" cy="2286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rPr sz="1600" dirty="0"/>
              <a:t>MODÜL 9 &amp; 10</a:t>
            </a:r>
            <a:endParaRPr lang="en-US" sz="1600" dirty="0">
              <a:ea typeface="Calibri"/>
              <a:cs typeface="Calibri"/>
            </a:endParaRP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rPr sz="1600" dirty="0" err="1"/>
              <a:t>Çözücü</a:t>
            </a:r>
            <a:r>
              <a:rPr sz="1600" dirty="0"/>
              <a:t> &amp; KPI </a:t>
            </a:r>
            <a:r>
              <a:rPr sz="1600" dirty="0" err="1"/>
              <a:t>Analitiği</a:t>
            </a:r>
            <a:endParaRPr sz="1600" dirty="0" err="1">
              <a:ea typeface="Calibri"/>
              <a:cs typeface="Calibri"/>
            </a:endParaRPr>
          </a:p>
          <a:p>
            <a:pPr>
              <a:defRPr sz="900">
                <a:solidFill>
                  <a:srgbClr val="94A3B8"/>
                </a:solidFill>
              </a:defRPr>
            </a:pPr>
            <a:r>
              <a:rPr sz="1600" dirty="0"/>
              <a:t>OR-Tools CP-SAT </a:t>
            </a:r>
            <a:r>
              <a:rPr sz="1600" dirty="0" err="1"/>
              <a:t>çözücü</a:t>
            </a:r>
            <a:r>
              <a:rPr sz="1600" dirty="0"/>
              <a:t>, 3 </a:t>
            </a:r>
            <a:r>
              <a:rPr sz="1600" dirty="0" err="1"/>
              <a:t>stratejik</a:t>
            </a:r>
            <a:r>
              <a:rPr sz="1600" dirty="0"/>
              <a:t> </a:t>
            </a:r>
            <a:r>
              <a:rPr sz="1600" dirty="0" err="1"/>
              <a:t>senaryo</a:t>
            </a:r>
            <a:r>
              <a:rPr sz="1600" dirty="0"/>
              <a:t> </a:t>
            </a:r>
            <a:r>
              <a:rPr sz="1600" dirty="0" err="1"/>
              <a:t>optimizasyonu</a:t>
            </a:r>
            <a:r>
              <a:rPr sz="1600" dirty="0"/>
              <a:t> </a:t>
            </a:r>
            <a:r>
              <a:rPr sz="1600" dirty="0" err="1"/>
              <a:t>ve</a:t>
            </a:r>
            <a:r>
              <a:rPr sz="1600" dirty="0"/>
              <a:t> </a:t>
            </a:r>
            <a:r>
              <a:rPr sz="1600" dirty="0" err="1"/>
              <a:t>gerçek</a:t>
            </a:r>
            <a:r>
              <a:rPr sz="1600" dirty="0"/>
              <a:t> </a:t>
            </a:r>
            <a:r>
              <a:rPr sz="1600" dirty="0" err="1"/>
              <a:t>matristen</a:t>
            </a:r>
            <a:r>
              <a:rPr sz="1600" dirty="0"/>
              <a:t> KPI </a:t>
            </a:r>
            <a:r>
              <a:rPr sz="1600" dirty="0" err="1"/>
              <a:t>raporlama</a:t>
            </a:r>
            <a:r>
              <a:rPr sz="1600" dirty="0"/>
              <a:t>.</a:t>
            </a:r>
            <a:endParaRPr sz="1600" dirty="0">
              <a:ea typeface="Calibri"/>
              <a:cs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046720" y="3840480"/>
            <a:ext cx="3383280" cy="2286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rPr sz="1600" dirty="0"/>
              <a:t>MODÜL 11 &amp; 12</a:t>
            </a:r>
            <a:endParaRPr lang="en-US" sz="1600" dirty="0">
              <a:ea typeface="Calibri"/>
              <a:cs typeface="Calibri"/>
            </a:endParaRP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rPr sz="1600" dirty="0" err="1"/>
              <a:t>Canlı</a:t>
            </a:r>
            <a:r>
              <a:rPr sz="1600" dirty="0"/>
              <a:t> Panel &amp; </a:t>
            </a:r>
            <a:r>
              <a:rPr sz="1600" dirty="0" err="1"/>
              <a:t>Raporlama</a:t>
            </a:r>
            <a:endParaRPr sz="1600" dirty="0" err="1">
              <a:ea typeface="Calibri"/>
              <a:cs typeface="Calibri"/>
            </a:endParaRPr>
          </a:p>
          <a:p>
            <a:pPr>
              <a:defRPr sz="900">
                <a:solidFill>
                  <a:srgbClr val="94A3B8"/>
                </a:solidFill>
              </a:defRPr>
            </a:pPr>
            <a:r>
              <a:rPr sz="1600" dirty="0"/>
              <a:t>Flask REST API, Leaflet.js </a:t>
            </a:r>
            <a:r>
              <a:rPr sz="1600" dirty="0" err="1"/>
              <a:t>canlı</a:t>
            </a:r>
            <a:r>
              <a:rPr sz="1600" dirty="0"/>
              <a:t> </a:t>
            </a:r>
            <a:r>
              <a:rPr sz="1600" dirty="0" err="1"/>
              <a:t>haritası</a:t>
            </a:r>
            <a:r>
              <a:rPr sz="1600" dirty="0"/>
              <a:t>, </a:t>
            </a:r>
            <a:r>
              <a:rPr sz="1600" dirty="0" err="1"/>
              <a:t>otomatik</a:t>
            </a:r>
            <a:r>
              <a:rPr sz="1600" dirty="0"/>
              <a:t> </a:t>
            </a:r>
            <a:r>
              <a:rPr sz="1600" dirty="0" err="1"/>
              <a:t>adres</a:t>
            </a:r>
            <a:r>
              <a:rPr sz="1600" dirty="0"/>
              <a:t> </a:t>
            </a:r>
            <a:r>
              <a:rPr sz="1600" dirty="0" err="1"/>
              <a:t>tamamlama</a:t>
            </a:r>
            <a:r>
              <a:rPr sz="1600" dirty="0"/>
              <a:t> </a:t>
            </a:r>
            <a:r>
              <a:rPr sz="1600" dirty="0" err="1"/>
              <a:t>ve</a:t>
            </a:r>
            <a:r>
              <a:rPr sz="1600" dirty="0"/>
              <a:t> PDF </a:t>
            </a:r>
            <a:r>
              <a:rPr sz="1600" dirty="0" err="1"/>
              <a:t>teknik</a:t>
            </a:r>
            <a:r>
              <a:rPr sz="1600" dirty="0"/>
              <a:t> </a:t>
            </a:r>
            <a:r>
              <a:rPr sz="1600" dirty="0" err="1"/>
              <a:t>rapor</a:t>
            </a:r>
            <a:r>
              <a:rPr sz="1600" dirty="0"/>
              <a:t> </a:t>
            </a:r>
            <a:r>
              <a:rPr sz="1600" dirty="0" err="1"/>
              <a:t>motoru</a:t>
            </a:r>
            <a:r>
              <a:rPr dirty="0"/>
              <a:t>.</a:t>
            </a:r>
            <a:endParaRPr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03 / TEKNOLOJI YIĞINI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Projeyi Geliştirirken Kullandığımız Araçlar &amp; Kütüphaneler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1887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 b="1">
                <a:solidFill>
                  <a:srgbClr val="10B981"/>
                </a:solidFill>
                <a:latin typeface="Segoe UI"/>
              </a:defRPr>
            </a:pPr>
            <a:r>
              <a:t>04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383280" cy="2286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1250" b="1">
                <a:solidFill>
                  <a:srgbClr val="10B981"/>
                </a:solidFill>
              </a:defRPr>
            </a:pPr>
            <a:r>
              <a:rPr dirty="0"/>
              <a:t>⚙️</a:t>
            </a:r>
            <a:r>
              <a:rPr sz="1600" dirty="0"/>
              <a:t> Google OR-Tools</a:t>
            </a:r>
            <a:endParaRPr lang="en-US" sz="1600" dirty="0">
              <a:ea typeface="Calibri"/>
              <a:cs typeface="Calibri"/>
            </a:endParaRPr>
          </a:p>
          <a:p>
            <a:pPr>
              <a:defRPr sz="950" b="1">
                <a:solidFill>
                  <a:srgbClr val="E2E8F0"/>
                </a:solidFill>
              </a:defRPr>
            </a:pPr>
            <a:r>
              <a:rPr sz="1600" dirty="0" err="1"/>
              <a:t>Yöneylem</a:t>
            </a:r>
            <a:r>
              <a:rPr sz="1600" dirty="0"/>
              <a:t> </a:t>
            </a:r>
            <a:r>
              <a:rPr sz="1600" dirty="0" err="1"/>
              <a:t>Araştırması</a:t>
            </a:r>
            <a:r>
              <a:rPr sz="1600" dirty="0"/>
              <a:t> &amp; </a:t>
            </a:r>
            <a:r>
              <a:rPr sz="1600" dirty="0" err="1"/>
              <a:t>Çözücü</a:t>
            </a:r>
            <a:endParaRPr sz="1600" dirty="0" err="1">
              <a:ea typeface="Calibri"/>
              <a:cs typeface="Calibri"/>
            </a:endParaRPr>
          </a:p>
          <a:p>
            <a:pPr>
              <a:defRPr sz="850">
                <a:solidFill>
                  <a:srgbClr val="94A3B8"/>
                </a:solidFill>
              </a:defRPr>
            </a:pPr>
            <a:r>
              <a:rPr sz="1600" dirty="0"/>
              <a:t>Constraint Programming (CP-SAT), Routing Model, Guided Local Search </a:t>
            </a:r>
            <a:r>
              <a:rPr sz="1600" dirty="0" err="1"/>
              <a:t>ve</a:t>
            </a:r>
            <a:r>
              <a:rPr sz="1600" dirty="0"/>
              <a:t> Tabu Search metaheuristics.</a:t>
            </a:r>
            <a:endParaRPr sz="1600" dirty="0">
              <a:ea typeface="Calibri"/>
              <a:cs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389120" y="1280160"/>
            <a:ext cx="3383280" cy="2286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1250" b="1">
                <a:solidFill>
                  <a:srgbClr val="3B82F6"/>
                </a:solidFill>
              </a:defRPr>
            </a:pPr>
            <a:r>
              <a:rPr sz="1600" dirty="0"/>
              <a:t>🌐 </a:t>
            </a:r>
            <a:r>
              <a:rPr sz="1600" dirty="0" err="1"/>
              <a:t>OpenRouteService</a:t>
            </a:r>
            <a:r>
              <a:rPr sz="1600" dirty="0"/>
              <a:t> API</a:t>
            </a:r>
            <a:endParaRPr lang="en-US" sz="1600" dirty="0">
              <a:ea typeface="Calibri"/>
              <a:cs typeface="Calibri"/>
            </a:endParaRPr>
          </a:p>
          <a:p>
            <a:pPr>
              <a:defRPr sz="950" b="1">
                <a:solidFill>
                  <a:srgbClr val="E2E8F0"/>
                </a:solidFill>
              </a:defRPr>
            </a:pPr>
            <a:r>
              <a:rPr sz="1600" dirty="0"/>
              <a:t>Gerçek Karayolu &amp; </a:t>
            </a:r>
            <a:r>
              <a:rPr sz="1600" dirty="0" err="1"/>
              <a:t>Coğrafi</a:t>
            </a:r>
            <a:r>
              <a:rPr sz="1600" dirty="0"/>
              <a:t> Veri</a:t>
            </a:r>
            <a:endParaRPr sz="1600" dirty="0">
              <a:ea typeface="Calibri"/>
              <a:cs typeface="Calibri"/>
            </a:endParaRPr>
          </a:p>
          <a:p>
            <a:pPr>
              <a:defRPr sz="850">
                <a:solidFill>
                  <a:srgbClr val="94A3B8"/>
                </a:solidFill>
              </a:defRPr>
            </a:pPr>
            <a:r>
              <a:rPr sz="1600" dirty="0"/>
              <a:t>Pelias Geocoding </a:t>
            </a:r>
            <a:r>
              <a:rPr sz="1600" dirty="0" err="1"/>
              <a:t>servisi</a:t>
            </a:r>
            <a:r>
              <a:rPr sz="1600" dirty="0"/>
              <a:t>, Driving-Car </a:t>
            </a:r>
            <a:r>
              <a:rPr sz="1600" dirty="0" err="1"/>
              <a:t>gerçek</a:t>
            </a:r>
            <a:r>
              <a:rPr sz="1600" dirty="0"/>
              <a:t> </a:t>
            </a:r>
            <a:r>
              <a:rPr sz="1600" dirty="0" err="1"/>
              <a:t>mesafe</a:t>
            </a:r>
            <a:r>
              <a:rPr sz="1600" dirty="0"/>
              <a:t>/</a:t>
            </a:r>
            <a:r>
              <a:rPr sz="1600" dirty="0" err="1"/>
              <a:t>süre</a:t>
            </a:r>
            <a:r>
              <a:rPr sz="1600" dirty="0"/>
              <a:t> </a:t>
            </a:r>
            <a:r>
              <a:rPr sz="1600" dirty="0" err="1"/>
              <a:t>matrisi</a:t>
            </a:r>
            <a:r>
              <a:rPr sz="1600" dirty="0"/>
              <a:t> </a:t>
            </a:r>
            <a:r>
              <a:rPr sz="1600" dirty="0" err="1"/>
              <a:t>ve</a:t>
            </a:r>
            <a:r>
              <a:rPr sz="1600" dirty="0"/>
              <a:t> </a:t>
            </a:r>
            <a:r>
              <a:rPr sz="1600" dirty="0" err="1"/>
              <a:t>yol</a:t>
            </a:r>
            <a:r>
              <a:rPr sz="1600" dirty="0"/>
              <a:t> </a:t>
            </a:r>
            <a:r>
              <a:rPr sz="1600" dirty="0" err="1"/>
              <a:t>kıvrımları</a:t>
            </a:r>
            <a:r>
              <a:rPr sz="1600" dirty="0"/>
              <a:t> (Directions</a:t>
            </a:r>
            <a:r>
              <a:rPr dirty="0"/>
              <a:t>).</a:t>
            </a:r>
            <a:endParaRPr dirty="0">
              <a:ea typeface="Calibri"/>
              <a:cs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046720" y="1280160"/>
            <a:ext cx="3383280" cy="2286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1250" b="1">
                <a:solidFill>
                  <a:srgbClr val="F59E0B"/>
                </a:solidFill>
              </a:defRPr>
            </a:pPr>
            <a:r>
              <a:rPr sz="1600" dirty="0"/>
              <a:t>🐍 Python 3.10+ &amp; Pandas</a:t>
            </a:r>
            <a:endParaRPr lang="en-US" sz="1600" dirty="0">
              <a:ea typeface="Calibri"/>
              <a:cs typeface="Calibri"/>
            </a:endParaRPr>
          </a:p>
          <a:p>
            <a:pPr>
              <a:defRPr sz="950" b="1">
                <a:solidFill>
                  <a:srgbClr val="E2E8F0"/>
                </a:solidFill>
              </a:defRPr>
            </a:pPr>
            <a:r>
              <a:rPr sz="1600" dirty="0" err="1"/>
              <a:t>Çekirdek</a:t>
            </a:r>
            <a:r>
              <a:rPr sz="1600" dirty="0"/>
              <a:t> Dil &amp; Veri </a:t>
            </a:r>
            <a:r>
              <a:rPr sz="1600" dirty="0" err="1"/>
              <a:t>Analitiği</a:t>
            </a:r>
            <a:endParaRPr sz="1600" dirty="0" err="1">
              <a:ea typeface="Calibri"/>
              <a:cs typeface="Calibri"/>
            </a:endParaRPr>
          </a:p>
          <a:p>
            <a:pPr>
              <a:defRPr sz="850">
                <a:solidFill>
                  <a:srgbClr val="94A3B8"/>
                </a:solidFill>
              </a:defRPr>
            </a:pPr>
            <a:r>
              <a:rPr sz="1600" dirty="0" err="1"/>
              <a:t>Vektörel</a:t>
            </a:r>
            <a:r>
              <a:rPr sz="1600" dirty="0"/>
              <a:t> </a:t>
            </a:r>
            <a:r>
              <a:rPr sz="1600" dirty="0" err="1"/>
              <a:t>veri</a:t>
            </a:r>
            <a:r>
              <a:rPr sz="1600" dirty="0"/>
              <a:t> </a:t>
            </a:r>
            <a:r>
              <a:rPr sz="1600" dirty="0" err="1"/>
              <a:t>temizleme</a:t>
            </a:r>
            <a:r>
              <a:rPr sz="1600" dirty="0"/>
              <a:t>, desi </a:t>
            </a:r>
            <a:r>
              <a:rPr sz="1600" dirty="0" err="1"/>
              <a:t>hesaplama</a:t>
            </a:r>
            <a:r>
              <a:rPr sz="1600" dirty="0"/>
              <a:t> </a:t>
            </a:r>
            <a:r>
              <a:rPr sz="1600" dirty="0" err="1"/>
              <a:t>algoritmaları</a:t>
            </a:r>
            <a:r>
              <a:rPr sz="1600" dirty="0"/>
              <a:t>, model </a:t>
            </a:r>
            <a:r>
              <a:rPr sz="1600" dirty="0" err="1"/>
              <a:t>parametre</a:t>
            </a:r>
            <a:r>
              <a:rPr sz="1600" dirty="0"/>
              <a:t> </a:t>
            </a:r>
            <a:r>
              <a:rPr sz="1600" dirty="0" err="1"/>
              <a:t>yapılandırması</a:t>
            </a:r>
            <a:r>
              <a:rPr sz="1600" dirty="0"/>
              <a:t>.</a:t>
            </a:r>
            <a:endParaRPr sz="1600" dirty="0">
              <a:ea typeface="Calibri"/>
              <a:cs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3840479"/>
            <a:ext cx="3383280" cy="2286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1250" b="1">
                <a:solidFill>
                  <a:srgbClr val="F43F5E"/>
                </a:solidFill>
              </a:defRPr>
            </a:pPr>
            <a:r>
              <a:rPr dirty="0"/>
              <a:t>⚡</a:t>
            </a:r>
            <a:r>
              <a:rPr sz="1600" dirty="0"/>
              <a:t> Flask REST API</a:t>
            </a:r>
            <a:endParaRPr lang="en-US" sz="1600" dirty="0">
              <a:ea typeface="Calibri"/>
              <a:cs typeface="Calibri"/>
            </a:endParaRPr>
          </a:p>
          <a:p>
            <a:pPr>
              <a:defRPr sz="950" b="1">
                <a:solidFill>
                  <a:srgbClr val="E2E8F0"/>
                </a:solidFill>
              </a:defRPr>
            </a:pPr>
            <a:r>
              <a:rPr sz="1600" dirty="0"/>
              <a:t>Web </a:t>
            </a:r>
            <a:r>
              <a:rPr sz="1600" dirty="0" err="1"/>
              <a:t>Sunucusu</a:t>
            </a:r>
            <a:r>
              <a:rPr sz="1600" dirty="0"/>
              <a:t> &amp; Servis </a:t>
            </a:r>
            <a:r>
              <a:rPr sz="1600" dirty="0" err="1"/>
              <a:t>Katmanı</a:t>
            </a:r>
            <a:endParaRPr sz="1600" dirty="0" err="1">
              <a:ea typeface="Calibri"/>
              <a:cs typeface="Calibri"/>
            </a:endParaRPr>
          </a:p>
          <a:p>
            <a:pPr>
              <a:defRPr sz="850">
                <a:solidFill>
                  <a:srgbClr val="94A3B8"/>
                </a:solidFill>
              </a:defRPr>
            </a:pPr>
            <a:r>
              <a:rPr sz="1600" dirty="0"/>
              <a:t>/</a:t>
            </a:r>
            <a:r>
              <a:rPr sz="1600" dirty="0" err="1"/>
              <a:t>api</a:t>
            </a:r>
            <a:r>
              <a:rPr sz="1600" dirty="0"/>
              <a:t>/data, /</a:t>
            </a:r>
            <a:r>
              <a:rPr sz="1600" dirty="0" err="1"/>
              <a:t>api</a:t>
            </a:r>
            <a:r>
              <a:rPr sz="1600" dirty="0"/>
              <a:t>/orders, /</a:t>
            </a:r>
            <a:r>
              <a:rPr sz="1600" dirty="0" err="1"/>
              <a:t>api</a:t>
            </a:r>
            <a:r>
              <a:rPr sz="1600" dirty="0"/>
              <a:t>/scenario </a:t>
            </a:r>
            <a:r>
              <a:rPr sz="1600" dirty="0" err="1"/>
              <a:t>ve</a:t>
            </a:r>
            <a:r>
              <a:rPr sz="1600" dirty="0"/>
              <a:t> /</a:t>
            </a:r>
            <a:r>
              <a:rPr sz="1600" dirty="0" err="1"/>
              <a:t>api</a:t>
            </a:r>
            <a:r>
              <a:rPr sz="1600" dirty="0"/>
              <a:t>/autocomplete </a:t>
            </a:r>
            <a:r>
              <a:rPr sz="1600" dirty="0" err="1"/>
              <a:t>uç</a:t>
            </a:r>
            <a:r>
              <a:rPr sz="1600" dirty="0"/>
              <a:t> </a:t>
            </a:r>
            <a:r>
              <a:rPr sz="1600" dirty="0" err="1"/>
              <a:t>noktaları</a:t>
            </a:r>
            <a:r>
              <a:rPr sz="1600" dirty="0"/>
              <a:t> </a:t>
            </a:r>
            <a:r>
              <a:rPr sz="1600" dirty="0" err="1"/>
              <a:t>üzerinden</a:t>
            </a:r>
            <a:r>
              <a:rPr sz="1600" dirty="0"/>
              <a:t> tam </a:t>
            </a:r>
            <a:r>
              <a:rPr sz="1600" dirty="0" err="1"/>
              <a:t>entegrasyon</a:t>
            </a:r>
            <a:r>
              <a:rPr sz="1600" dirty="0"/>
              <a:t>.</a:t>
            </a:r>
            <a:endParaRPr sz="1600" dirty="0">
              <a:ea typeface="Calibri"/>
              <a:cs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89120" y="3840479"/>
            <a:ext cx="3383280" cy="2286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1250" b="1">
                <a:solidFill>
                  <a:srgbClr val="38BDF8"/>
                </a:solidFill>
              </a:defRPr>
            </a:pPr>
            <a:r>
              <a:rPr dirty="0"/>
              <a:t>🗺</a:t>
            </a:r>
            <a:r>
              <a:rPr sz="1600" dirty="0"/>
              <a:t>️ Leaflet.js Haritası</a:t>
            </a:r>
            <a:endParaRPr lang="en-US" sz="1600" dirty="0">
              <a:ea typeface="Calibri"/>
              <a:cs typeface="Calibri"/>
            </a:endParaRPr>
          </a:p>
          <a:p>
            <a:pPr>
              <a:defRPr sz="950" b="1">
                <a:solidFill>
                  <a:srgbClr val="E2E8F0"/>
                </a:solidFill>
              </a:defRPr>
            </a:pPr>
            <a:r>
              <a:rPr sz="1600" dirty="0" err="1"/>
              <a:t>Canlı</a:t>
            </a:r>
            <a:r>
              <a:rPr sz="1600" dirty="0"/>
              <a:t> </a:t>
            </a:r>
            <a:r>
              <a:rPr sz="1600" dirty="0" err="1"/>
              <a:t>Görselleştirme</a:t>
            </a:r>
            <a:endParaRPr sz="1600" dirty="0" err="1">
              <a:ea typeface="Calibri"/>
              <a:cs typeface="Calibri"/>
            </a:endParaRPr>
          </a:p>
          <a:p>
            <a:pPr>
              <a:defRPr sz="850">
                <a:solidFill>
                  <a:srgbClr val="94A3B8"/>
                </a:solidFill>
              </a:defRPr>
            </a:pPr>
            <a:r>
              <a:rPr sz="1600" dirty="0" err="1"/>
              <a:t>Araç</a:t>
            </a:r>
            <a:r>
              <a:rPr sz="1600" dirty="0"/>
              <a:t> </a:t>
            </a:r>
            <a:r>
              <a:rPr sz="1600" dirty="0" err="1"/>
              <a:t>bazlı</a:t>
            </a:r>
            <a:r>
              <a:rPr sz="1600" dirty="0"/>
              <a:t> </a:t>
            </a:r>
            <a:r>
              <a:rPr sz="1600" dirty="0" err="1"/>
              <a:t>renklendirilmiş</a:t>
            </a:r>
            <a:r>
              <a:rPr sz="1600" dirty="0"/>
              <a:t> </a:t>
            </a:r>
            <a:r>
              <a:rPr sz="1600" dirty="0" err="1"/>
              <a:t>canlı</a:t>
            </a:r>
            <a:r>
              <a:rPr sz="1600" dirty="0"/>
              <a:t> </a:t>
            </a:r>
            <a:r>
              <a:rPr sz="1600" dirty="0" err="1"/>
              <a:t>rota</a:t>
            </a:r>
            <a:r>
              <a:rPr sz="1600" dirty="0"/>
              <a:t> </a:t>
            </a:r>
            <a:r>
              <a:rPr sz="1600" dirty="0" err="1"/>
              <a:t>çizgileri</a:t>
            </a:r>
            <a:r>
              <a:rPr sz="1600" dirty="0"/>
              <a:t>, </a:t>
            </a:r>
            <a:r>
              <a:rPr sz="1600" dirty="0" err="1"/>
              <a:t>numaralandırılmış</a:t>
            </a:r>
            <a:r>
              <a:rPr sz="1600" dirty="0"/>
              <a:t> </a:t>
            </a:r>
            <a:r>
              <a:rPr sz="1600" dirty="0" err="1"/>
              <a:t>durak</a:t>
            </a:r>
            <a:r>
              <a:rPr sz="1600" dirty="0"/>
              <a:t> </a:t>
            </a:r>
            <a:r>
              <a:rPr sz="1600" dirty="0" err="1"/>
              <a:t>pinleri</a:t>
            </a:r>
            <a:r>
              <a:rPr sz="1600" dirty="0"/>
              <a:t>, </a:t>
            </a:r>
            <a:r>
              <a:rPr sz="1600" dirty="0" err="1"/>
              <a:t>teslimat</a:t>
            </a:r>
            <a:r>
              <a:rPr sz="1600" dirty="0"/>
              <a:t> </a:t>
            </a:r>
            <a:r>
              <a:rPr sz="1600" dirty="0" err="1"/>
              <a:t>popupları</a:t>
            </a:r>
            <a:r>
              <a:rPr sz="1600" dirty="0"/>
              <a:t>.</a:t>
            </a:r>
            <a:endParaRPr sz="1600" dirty="0">
              <a:ea typeface="Calibri"/>
              <a:cs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046720" y="3840479"/>
            <a:ext cx="3383280" cy="2286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1250" b="1">
                <a:solidFill>
                  <a:srgbClr val="A855F7"/>
                </a:solidFill>
              </a:defRPr>
            </a:pPr>
            <a:r>
              <a:rPr dirty="0"/>
              <a:t>📑</a:t>
            </a:r>
            <a:r>
              <a:rPr sz="1600" dirty="0"/>
              <a:t> </a:t>
            </a:r>
            <a:r>
              <a:rPr sz="1600" dirty="0" err="1"/>
              <a:t>ReportLab</a:t>
            </a:r>
            <a:r>
              <a:rPr sz="1600" dirty="0"/>
              <a:t> &amp; Chart.js</a:t>
            </a:r>
            <a:endParaRPr lang="en-US" sz="1600" dirty="0">
              <a:ea typeface="Calibri"/>
              <a:cs typeface="Calibri"/>
            </a:endParaRPr>
          </a:p>
          <a:p>
            <a:pPr>
              <a:defRPr sz="950" b="1">
                <a:solidFill>
                  <a:srgbClr val="E2E8F0"/>
                </a:solidFill>
              </a:defRPr>
            </a:pPr>
            <a:r>
              <a:rPr sz="1600" dirty="0" err="1"/>
              <a:t>Kurumsal</a:t>
            </a:r>
            <a:r>
              <a:rPr sz="1600" dirty="0"/>
              <a:t> </a:t>
            </a:r>
            <a:r>
              <a:rPr sz="1600" dirty="0" err="1"/>
              <a:t>Raporlama</a:t>
            </a:r>
            <a:r>
              <a:rPr sz="1600" dirty="0"/>
              <a:t> &amp; </a:t>
            </a:r>
            <a:r>
              <a:rPr sz="1600" dirty="0" err="1"/>
              <a:t>Analitik</a:t>
            </a:r>
            <a:endParaRPr sz="1600" dirty="0" err="1">
              <a:ea typeface="Calibri"/>
              <a:cs typeface="Calibri"/>
            </a:endParaRPr>
          </a:p>
          <a:p>
            <a:pPr>
              <a:defRPr sz="850">
                <a:solidFill>
                  <a:srgbClr val="94A3B8"/>
                </a:solidFill>
              </a:defRPr>
            </a:pPr>
            <a:r>
              <a:rPr sz="1600" dirty="0"/>
              <a:t>Otomatik </a:t>
            </a:r>
            <a:r>
              <a:rPr sz="1600" dirty="0" err="1"/>
              <a:t>teknik</a:t>
            </a:r>
            <a:r>
              <a:rPr sz="1600" dirty="0"/>
              <a:t> el </a:t>
            </a:r>
            <a:r>
              <a:rPr sz="1600" dirty="0" err="1"/>
              <a:t>kitabı</a:t>
            </a:r>
            <a:r>
              <a:rPr sz="1600" dirty="0"/>
              <a:t> PDF </a:t>
            </a:r>
            <a:r>
              <a:rPr sz="1600" dirty="0" err="1"/>
              <a:t>üretimi</a:t>
            </a:r>
            <a:r>
              <a:rPr sz="1600" dirty="0"/>
              <a:t>, Chart.js </a:t>
            </a:r>
            <a:r>
              <a:rPr sz="1600" dirty="0" err="1"/>
              <a:t>ile</a:t>
            </a:r>
            <a:r>
              <a:rPr sz="1600" dirty="0"/>
              <a:t> </a:t>
            </a:r>
            <a:r>
              <a:rPr sz="1600" dirty="0" err="1"/>
              <a:t>dinamik</a:t>
            </a:r>
            <a:r>
              <a:rPr sz="1600" dirty="0"/>
              <a:t> </a:t>
            </a:r>
            <a:r>
              <a:rPr sz="1600" dirty="0" err="1"/>
              <a:t>kargo</a:t>
            </a:r>
            <a:r>
              <a:rPr sz="1600" dirty="0"/>
              <a:t> </a:t>
            </a:r>
            <a:r>
              <a:rPr sz="1600" dirty="0" err="1"/>
              <a:t>kategori</a:t>
            </a:r>
            <a:r>
              <a:rPr sz="1600" dirty="0"/>
              <a:t> </a:t>
            </a:r>
            <a:r>
              <a:rPr sz="1600" dirty="0" err="1"/>
              <a:t>ve</a:t>
            </a:r>
            <a:r>
              <a:rPr sz="1600" dirty="0"/>
              <a:t> </a:t>
            </a:r>
            <a:r>
              <a:rPr sz="1600" dirty="0" err="1"/>
              <a:t>operasyon</a:t>
            </a:r>
            <a:r>
              <a:rPr sz="1600" dirty="0"/>
              <a:t> </a:t>
            </a:r>
            <a:r>
              <a:rPr sz="1600" dirty="0" err="1"/>
              <a:t>grafikleri</a:t>
            </a:r>
            <a:r>
              <a:rPr dirty="0"/>
              <a:t>.</a:t>
            </a:r>
            <a:endParaRPr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04 / HARITA DOĞRULUĞU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Kuş Uçuşu Yanılgısından Gerçek Karayolu Ağına Geçiş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1887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 b="1">
                <a:solidFill>
                  <a:srgbClr val="10B981"/>
                </a:solidFill>
                <a:latin typeface="Segoe UI"/>
              </a:defRPr>
            </a:pPr>
            <a:r>
              <a:t>05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1C2541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1350" b="1">
                <a:solidFill>
                  <a:srgbClr val="3B82F6"/>
                </a:solidFill>
              </a:defRPr>
            </a:pPr>
            <a:r>
              <a:rPr sz="1600" dirty="0"/>
              <a:t>🗺️ Kuş </a:t>
            </a:r>
            <a:r>
              <a:rPr sz="1600" dirty="0" err="1"/>
              <a:t>Uçuşu</a:t>
            </a:r>
            <a:r>
              <a:rPr sz="1600" dirty="0"/>
              <a:t> (Haversine) vs </a:t>
            </a:r>
            <a:r>
              <a:rPr sz="1600" dirty="0" err="1"/>
              <a:t>Gerçek</a:t>
            </a:r>
            <a:r>
              <a:rPr sz="1600" dirty="0"/>
              <a:t> Yol</a:t>
            </a:r>
            <a:endParaRPr lang="en-US" sz="1600" dirty="0">
              <a:ea typeface="Calibri"/>
              <a:cs typeface="Calibri"/>
            </a:endParaRPr>
          </a:p>
          <a:p>
            <a:pPr>
              <a:defRPr sz="950">
                <a:solidFill>
                  <a:srgbClr val="E2E8F0"/>
                </a:solidFill>
              </a:defRPr>
            </a:pPr>
            <a:r>
              <a:rPr sz="1600" dirty="0"/>
              <a:t>• İstanbul Şehir </a:t>
            </a:r>
            <a:r>
              <a:rPr sz="1600" dirty="0" err="1"/>
              <a:t>İçi</a:t>
            </a:r>
            <a:r>
              <a:rPr sz="1600" dirty="0"/>
              <a:t> Sapması: Kuş </a:t>
            </a:r>
            <a:r>
              <a:rPr sz="1600" dirty="0" err="1"/>
              <a:t>uçuşu</a:t>
            </a:r>
            <a:r>
              <a:rPr sz="1600" dirty="0"/>
              <a:t> 2.0 km </a:t>
            </a:r>
            <a:r>
              <a:rPr sz="1600" dirty="0" err="1"/>
              <a:t>görünen</a:t>
            </a:r>
            <a:r>
              <a:rPr sz="1600" dirty="0"/>
              <a:t> </a:t>
            </a:r>
            <a:r>
              <a:rPr sz="1600" dirty="0" err="1"/>
              <a:t>iki</a:t>
            </a:r>
            <a:r>
              <a:rPr sz="1600" dirty="0"/>
              <a:t> </a:t>
            </a:r>
            <a:r>
              <a:rPr sz="1600" dirty="0" err="1"/>
              <a:t>nokta</a:t>
            </a:r>
            <a:r>
              <a:rPr sz="1600" dirty="0"/>
              <a:t> </a:t>
            </a:r>
            <a:r>
              <a:rPr sz="1600" dirty="0" err="1"/>
              <a:t>gerçek</a:t>
            </a:r>
            <a:r>
              <a:rPr sz="1600" dirty="0"/>
              <a:t> </a:t>
            </a:r>
            <a:r>
              <a:rPr sz="1600" dirty="0" err="1"/>
              <a:t>karayolunda</a:t>
            </a:r>
            <a:r>
              <a:rPr sz="1600" dirty="0"/>
              <a:t> </a:t>
            </a:r>
            <a:r>
              <a:rPr sz="1600" dirty="0" err="1"/>
              <a:t>köprü</a:t>
            </a:r>
            <a:r>
              <a:rPr sz="1600" dirty="0"/>
              <a:t>, </a:t>
            </a:r>
            <a:r>
              <a:rPr sz="1600" dirty="0" err="1"/>
              <a:t>sahil</a:t>
            </a:r>
            <a:r>
              <a:rPr sz="1600" dirty="0"/>
              <a:t> </a:t>
            </a:r>
            <a:r>
              <a:rPr sz="1600" dirty="0" err="1"/>
              <a:t>ve</a:t>
            </a:r>
            <a:r>
              <a:rPr sz="1600" dirty="0"/>
              <a:t> </a:t>
            </a:r>
            <a:r>
              <a:rPr sz="1600" dirty="0" err="1"/>
              <a:t>kavşaklar</a:t>
            </a:r>
            <a:r>
              <a:rPr sz="1600" dirty="0"/>
              <a:t> </a:t>
            </a:r>
            <a:r>
              <a:rPr sz="1600" dirty="0" err="1"/>
              <a:t>sebebiyle</a:t>
            </a:r>
            <a:r>
              <a:rPr sz="1600" dirty="0"/>
              <a:t> 3.4 km </a:t>
            </a:r>
            <a:r>
              <a:rPr sz="1600" dirty="0" err="1"/>
              <a:t>sürmektedir</a:t>
            </a:r>
            <a:r>
              <a:rPr sz="1600" dirty="0"/>
              <a:t>.</a:t>
            </a:r>
            <a:endParaRPr sz="1600" dirty="0">
              <a:ea typeface="Calibri"/>
              <a:cs typeface="Calibri"/>
            </a:endParaRPr>
          </a:p>
          <a:p>
            <a:pPr>
              <a:defRPr sz="950">
                <a:solidFill>
                  <a:srgbClr val="E2E8F0"/>
                </a:solidFill>
              </a:defRPr>
            </a:pPr>
            <a:endParaRPr lang="en-US" sz="1600" dirty="0"/>
          </a:p>
          <a:p>
            <a:pPr>
              <a:defRPr sz="950">
                <a:solidFill>
                  <a:srgbClr val="E2E8F0"/>
                </a:solidFill>
              </a:defRPr>
            </a:pPr>
            <a:r>
              <a:rPr sz="1600" dirty="0"/>
              <a:t>• Yol / Kuş </a:t>
            </a:r>
            <a:r>
              <a:rPr sz="1600" dirty="0" err="1"/>
              <a:t>Uçuşu</a:t>
            </a:r>
            <a:r>
              <a:rPr sz="1600" dirty="0"/>
              <a:t> Katsayısı: </a:t>
            </a:r>
            <a:r>
              <a:rPr sz="1600" dirty="0" err="1"/>
              <a:t>Sistemimizde</a:t>
            </a:r>
            <a:r>
              <a:rPr sz="1600" dirty="0"/>
              <a:t> </a:t>
            </a:r>
            <a:r>
              <a:rPr sz="1600" dirty="0" err="1"/>
              <a:t>ortalama</a:t>
            </a:r>
            <a:r>
              <a:rPr sz="1600" dirty="0"/>
              <a:t> 1.45x, </a:t>
            </a:r>
            <a:r>
              <a:rPr sz="1600" dirty="0" err="1"/>
              <a:t>zorlu</a:t>
            </a:r>
            <a:r>
              <a:rPr sz="1600" dirty="0"/>
              <a:t> </a:t>
            </a:r>
            <a:r>
              <a:rPr sz="1600" dirty="0" err="1"/>
              <a:t>coğrafi</a:t>
            </a:r>
            <a:r>
              <a:rPr sz="1600" dirty="0"/>
              <a:t> </a:t>
            </a:r>
            <a:r>
              <a:rPr sz="1600" dirty="0" err="1"/>
              <a:t>bölgelerde</a:t>
            </a:r>
            <a:r>
              <a:rPr sz="1600" dirty="0"/>
              <a:t> 2.1x </a:t>
            </a:r>
            <a:r>
              <a:rPr sz="1600" dirty="0" err="1"/>
              <a:t>sapma</a:t>
            </a:r>
            <a:r>
              <a:rPr sz="1600" dirty="0"/>
              <a:t> </a:t>
            </a:r>
            <a:r>
              <a:rPr sz="1600" dirty="0" err="1"/>
              <a:t>otomatik</a:t>
            </a:r>
            <a:r>
              <a:rPr sz="1600" dirty="0"/>
              <a:t> </a:t>
            </a:r>
            <a:r>
              <a:rPr sz="1600" dirty="0" err="1"/>
              <a:t>olarak</a:t>
            </a:r>
            <a:r>
              <a:rPr sz="1600" dirty="0"/>
              <a:t> </a:t>
            </a:r>
            <a:r>
              <a:rPr sz="1600" dirty="0" err="1"/>
              <a:t>tespit</a:t>
            </a:r>
            <a:r>
              <a:rPr sz="1600" dirty="0"/>
              <a:t> </a:t>
            </a:r>
            <a:r>
              <a:rPr sz="1600" dirty="0" err="1"/>
              <a:t>edilmekte</a:t>
            </a:r>
            <a:r>
              <a:rPr sz="1600" dirty="0"/>
              <a:t> </a:t>
            </a:r>
            <a:r>
              <a:rPr sz="1600" dirty="0" err="1"/>
              <a:t>ve</a:t>
            </a:r>
            <a:r>
              <a:rPr sz="1600" dirty="0"/>
              <a:t> </a:t>
            </a:r>
            <a:r>
              <a:rPr sz="1600" dirty="0" err="1"/>
              <a:t>modellenmektedir</a:t>
            </a:r>
            <a:r>
              <a:rPr sz="1600" dirty="0"/>
              <a:t>.</a:t>
            </a:r>
            <a:endParaRPr sz="1600" dirty="0">
              <a:ea typeface="Calibri"/>
              <a:cs typeface="Calibri"/>
            </a:endParaRPr>
          </a:p>
          <a:p>
            <a:pPr>
              <a:defRPr sz="950">
                <a:solidFill>
                  <a:srgbClr val="E2E8F0"/>
                </a:solidFill>
              </a:defRPr>
            </a:pPr>
            <a:endParaRPr lang="en-US" sz="1600" dirty="0"/>
          </a:p>
          <a:p>
            <a:pPr>
              <a:defRPr sz="950">
                <a:solidFill>
                  <a:srgbClr val="E2E8F0"/>
                </a:solidFill>
              </a:defRPr>
            </a:pPr>
            <a:r>
              <a:rPr sz="1600" dirty="0"/>
              <a:t>• Gerçek Hız </a:t>
            </a:r>
            <a:r>
              <a:rPr sz="1600" dirty="0" err="1"/>
              <a:t>Profili</a:t>
            </a:r>
            <a:r>
              <a:rPr sz="1600" dirty="0"/>
              <a:t> (Driving-Car): </a:t>
            </a:r>
            <a:r>
              <a:rPr sz="1600" dirty="0" err="1"/>
              <a:t>Sadece</a:t>
            </a:r>
            <a:r>
              <a:rPr sz="1600" dirty="0"/>
              <a:t> </a:t>
            </a:r>
            <a:r>
              <a:rPr sz="1600" dirty="0" err="1"/>
              <a:t>mesafe</a:t>
            </a:r>
            <a:r>
              <a:rPr sz="1600" dirty="0"/>
              <a:t> </a:t>
            </a:r>
            <a:r>
              <a:rPr sz="1600" dirty="0" err="1"/>
              <a:t>değil</a:t>
            </a:r>
            <a:r>
              <a:rPr sz="1600" dirty="0"/>
              <a:t>; </a:t>
            </a:r>
            <a:r>
              <a:rPr sz="1600" dirty="0" err="1"/>
              <a:t>cadde</a:t>
            </a:r>
            <a:r>
              <a:rPr sz="1600" dirty="0"/>
              <a:t> </a:t>
            </a:r>
            <a:r>
              <a:rPr sz="1600" dirty="0" err="1"/>
              <a:t>hız</a:t>
            </a:r>
            <a:r>
              <a:rPr sz="1600" dirty="0"/>
              <a:t> </a:t>
            </a:r>
            <a:r>
              <a:rPr sz="1600" dirty="0" err="1"/>
              <a:t>limitleri</a:t>
            </a:r>
            <a:r>
              <a:rPr sz="1600" dirty="0"/>
              <a:t> </a:t>
            </a:r>
            <a:r>
              <a:rPr sz="1600" dirty="0" err="1"/>
              <a:t>ve</a:t>
            </a:r>
            <a:r>
              <a:rPr sz="1600" dirty="0"/>
              <a:t> </a:t>
            </a:r>
            <a:r>
              <a:rPr sz="1600" dirty="0" err="1"/>
              <a:t>sürüş</a:t>
            </a:r>
            <a:r>
              <a:rPr sz="1600" dirty="0"/>
              <a:t> </a:t>
            </a:r>
            <a:r>
              <a:rPr sz="1600" dirty="0" err="1"/>
              <a:t>süreleri</a:t>
            </a:r>
            <a:r>
              <a:rPr sz="1600" dirty="0"/>
              <a:t> </a:t>
            </a:r>
            <a:r>
              <a:rPr sz="1600" dirty="0" err="1"/>
              <a:t>gerçekçi</a:t>
            </a:r>
            <a:r>
              <a:rPr sz="1600" dirty="0"/>
              <a:t> </a:t>
            </a:r>
            <a:r>
              <a:rPr sz="1600" dirty="0" err="1"/>
              <a:t>olarak</a:t>
            </a:r>
            <a:r>
              <a:rPr sz="1600" dirty="0"/>
              <a:t> </a:t>
            </a:r>
            <a:r>
              <a:rPr sz="1600" dirty="0" err="1"/>
              <a:t>hesaplanmaktadır</a:t>
            </a:r>
            <a:r>
              <a:rPr sz="1600" dirty="0"/>
              <a:t>.</a:t>
            </a:r>
            <a:endParaRPr sz="1600" dirty="0">
              <a:ea typeface="Calibri"/>
              <a:cs typeface="Calibri"/>
            </a:endParaRPr>
          </a:p>
          <a:p>
            <a:pPr>
              <a:defRPr sz="950">
                <a:solidFill>
                  <a:srgbClr val="E2E8F0"/>
                </a:solidFill>
              </a:defRPr>
            </a:pPr>
            <a:endParaRPr lang="en-US" sz="1600" dirty="0"/>
          </a:p>
          <a:p>
            <a:pPr>
              <a:defRPr sz="950">
                <a:solidFill>
                  <a:srgbClr val="E2E8F0"/>
                </a:solidFill>
              </a:defRPr>
            </a:pPr>
            <a:r>
              <a:rPr sz="1600" dirty="0"/>
              <a:t>• </a:t>
            </a:r>
            <a:r>
              <a:rPr sz="1600" err="1"/>
              <a:t>Doğruluk</a:t>
            </a:r>
            <a:r>
              <a:rPr sz="1600" dirty="0"/>
              <a:t> </a:t>
            </a:r>
            <a:r>
              <a:rPr sz="1600" err="1"/>
              <a:t>Oranı</a:t>
            </a:r>
            <a:r>
              <a:rPr sz="1600" dirty="0"/>
              <a:t>: Haversine </a:t>
            </a:r>
            <a:r>
              <a:rPr sz="1600" err="1"/>
              <a:t>formülünün</a:t>
            </a:r>
            <a:r>
              <a:rPr sz="1600" dirty="0"/>
              <a:t> %60-70 </a:t>
            </a:r>
            <a:r>
              <a:rPr sz="1600" err="1"/>
              <a:t>doğruluğuna</a:t>
            </a:r>
            <a:r>
              <a:rPr sz="1600" dirty="0"/>
              <a:t> </a:t>
            </a:r>
            <a:r>
              <a:rPr sz="1600" err="1"/>
              <a:t>karşılık</a:t>
            </a:r>
            <a:r>
              <a:rPr sz="1600" dirty="0"/>
              <a:t> ORS Matrix API </a:t>
            </a:r>
            <a:r>
              <a:rPr sz="1600" err="1"/>
              <a:t>ile</a:t>
            </a:r>
            <a:r>
              <a:rPr sz="1600" dirty="0"/>
              <a:t> %98 </a:t>
            </a:r>
            <a:r>
              <a:rPr sz="1600" err="1"/>
              <a:t>karayolu</a:t>
            </a:r>
            <a:r>
              <a:rPr sz="1600" dirty="0"/>
              <a:t> </a:t>
            </a:r>
            <a:r>
              <a:rPr sz="1600" err="1"/>
              <a:t>doğruluğu</a:t>
            </a:r>
            <a:r>
              <a:rPr sz="1600" dirty="0"/>
              <a:t> </a:t>
            </a:r>
            <a:r>
              <a:rPr sz="1600" err="1"/>
              <a:t>yakalanmıştır</a:t>
            </a:r>
            <a:r>
              <a:rPr sz="1600" dirty="0"/>
              <a:t>.</a:t>
            </a:r>
            <a:endParaRPr sz="1600" dirty="0">
              <a:ea typeface="Calibri"/>
              <a:cs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12080" cy="23317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rPr sz="1400" dirty="0"/>
              <a:t>🎯 Focus Point </a:t>
            </a:r>
            <a:r>
              <a:rPr sz="1400" dirty="0" err="1"/>
              <a:t>ile</a:t>
            </a:r>
            <a:r>
              <a:rPr sz="1400" dirty="0"/>
              <a:t> Adres </a:t>
            </a:r>
            <a:r>
              <a:rPr sz="1400" dirty="0" err="1"/>
              <a:t>Belirleme</a:t>
            </a:r>
            <a:r>
              <a:rPr sz="1400" dirty="0"/>
              <a:t> (Disambiguation)</a:t>
            </a:r>
            <a:endParaRPr lang="en-US" sz="1400">
              <a:ea typeface="Calibri"/>
              <a:cs typeface="Calibri"/>
            </a:endParaRPr>
          </a:p>
          <a:p>
            <a:pPr>
              <a:defRPr sz="850">
                <a:solidFill>
                  <a:srgbClr val="E2E8F0"/>
                </a:solidFill>
              </a:defRPr>
            </a:pPr>
            <a:r>
              <a:rPr sz="1400" dirty="0"/>
              <a:t>• Çelişkili Mahalle Ayrımı: 'Barbaros Mah.' </a:t>
            </a:r>
            <a:r>
              <a:rPr sz="1400" dirty="0" err="1"/>
              <a:t>aramasında</a:t>
            </a:r>
            <a:r>
              <a:rPr sz="1400" dirty="0"/>
              <a:t> depo </a:t>
            </a:r>
            <a:r>
              <a:rPr sz="1400" dirty="0" err="1"/>
              <a:t>koordinatına</a:t>
            </a:r>
            <a:r>
              <a:rPr sz="1400" dirty="0"/>
              <a:t> (</a:t>
            </a:r>
            <a:r>
              <a:rPr sz="1400" dirty="0" err="1"/>
              <a:t>Kadıköy</a:t>
            </a:r>
            <a:r>
              <a:rPr sz="1400" dirty="0"/>
              <a:t>/İstanbul) </a:t>
            </a:r>
            <a:r>
              <a:rPr sz="1400" dirty="0" err="1"/>
              <a:t>en</a:t>
            </a:r>
            <a:r>
              <a:rPr sz="1400" dirty="0"/>
              <a:t> </a:t>
            </a:r>
            <a:r>
              <a:rPr sz="1400" dirty="0" err="1"/>
              <a:t>yakın</a:t>
            </a:r>
            <a:r>
              <a:rPr sz="1400" dirty="0"/>
              <a:t> </a:t>
            </a:r>
            <a:r>
              <a:rPr sz="1400" dirty="0" err="1"/>
              <a:t>doğru</a:t>
            </a:r>
            <a:r>
              <a:rPr sz="1400" dirty="0"/>
              <a:t> </a:t>
            </a:r>
            <a:r>
              <a:rPr sz="1400" dirty="0" err="1"/>
              <a:t>konumu</a:t>
            </a:r>
            <a:r>
              <a:rPr sz="1400" dirty="0"/>
              <a:t> </a:t>
            </a:r>
            <a:r>
              <a:rPr sz="1400" dirty="0" err="1"/>
              <a:t>seçer</a:t>
            </a:r>
            <a:endParaRPr lang="en-US" sz="1400" dirty="0" err="1"/>
          </a:p>
          <a:p>
            <a:pPr>
              <a:defRPr sz="850">
                <a:solidFill>
                  <a:srgbClr val="E2E8F0"/>
                </a:solidFill>
              </a:defRPr>
            </a:pPr>
            <a:r>
              <a:rPr sz="1400" dirty="0"/>
              <a:t>.</a:t>
            </a:r>
            <a:endParaRPr sz="1400" dirty="0">
              <a:ea typeface="Calibri"/>
              <a:cs typeface="Calibri"/>
            </a:endParaRPr>
          </a:p>
          <a:p>
            <a:pPr>
              <a:defRPr sz="850">
                <a:solidFill>
                  <a:srgbClr val="E2E8F0"/>
                </a:solidFill>
              </a:defRPr>
            </a:pPr>
            <a:r>
              <a:rPr sz="1400" dirty="0"/>
              <a:t>• </a:t>
            </a:r>
            <a:r>
              <a:rPr sz="1400" dirty="0" err="1"/>
              <a:t>Otomatik</a:t>
            </a:r>
            <a:r>
              <a:rPr sz="1400" dirty="0"/>
              <a:t> </a:t>
            </a:r>
            <a:r>
              <a:rPr sz="1400" dirty="0" err="1"/>
              <a:t>Yazım</a:t>
            </a:r>
            <a:r>
              <a:rPr sz="1400" dirty="0"/>
              <a:t> </a:t>
            </a:r>
            <a:r>
              <a:rPr sz="1400" dirty="0" err="1"/>
              <a:t>Düzeltme</a:t>
            </a:r>
            <a:r>
              <a:rPr sz="1400" dirty="0"/>
              <a:t>: Pelias </a:t>
            </a:r>
            <a:r>
              <a:rPr sz="1400" dirty="0" err="1"/>
              <a:t>algoritması</a:t>
            </a:r>
            <a:r>
              <a:rPr sz="1400" dirty="0"/>
              <a:t> </a:t>
            </a:r>
            <a:r>
              <a:rPr sz="1400" dirty="0" err="1"/>
              <a:t>ile</a:t>
            </a:r>
            <a:r>
              <a:rPr sz="1400" dirty="0"/>
              <a:t> </a:t>
            </a:r>
            <a:r>
              <a:rPr sz="1400" dirty="0" err="1"/>
              <a:t>eksik</a:t>
            </a:r>
            <a:r>
              <a:rPr sz="1400" dirty="0"/>
              <a:t> </a:t>
            </a:r>
            <a:r>
              <a:rPr sz="1400" dirty="0" err="1"/>
              <a:t>veya</a:t>
            </a:r>
            <a:r>
              <a:rPr sz="1400" dirty="0"/>
              <a:t> </a:t>
            </a:r>
            <a:r>
              <a:rPr sz="1400" dirty="0" err="1"/>
              <a:t>hatalı</a:t>
            </a:r>
            <a:r>
              <a:rPr sz="1400" dirty="0"/>
              <a:t> </a:t>
            </a:r>
            <a:r>
              <a:rPr sz="1400" dirty="0" err="1"/>
              <a:t>girilen</a:t>
            </a:r>
            <a:r>
              <a:rPr sz="1400" dirty="0"/>
              <a:t> </a:t>
            </a:r>
            <a:r>
              <a:rPr sz="1400" dirty="0" err="1"/>
              <a:t>adresleri</a:t>
            </a:r>
            <a:r>
              <a:rPr sz="1400" dirty="0"/>
              <a:t> </a:t>
            </a:r>
            <a:r>
              <a:rPr sz="1400" dirty="0" err="1"/>
              <a:t>harita</a:t>
            </a:r>
            <a:r>
              <a:rPr sz="1400" dirty="0"/>
              <a:t> </a:t>
            </a:r>
            <a:r>
              <a:rPr sz="1400" dirty="0" err="1"/>
              <a:t>üzerinde</a:t>
            </a:r>
            <a:r>
              <a:rPr sz="1400" dirty="0"/>
              <a:t> </a:t>
            </a:r>
            <a:r>
              <a:rPr sz="1400" dirty="0" err="1"/>
              <a:t>otomatik</a:t>
            </a:r>
            <a:r>
              <a:rPr sz="1400" dirty="0"/>
              <a:t> </a:t>
            </a:r>
            <a:r>
              <a:rPr sz="1400" dirty="0" err="1"/>
              <a:t>tamamlar</a:t>
            </a:r>
            <a:r>
              <a:rPr sz="1400" dirty="0"/>
              <a:t>.</a:t>
            </a:r>
            <a:endParaRPr sz="1400">
              <a:ea typeface="Calibri"/>
              <a:cs typeface="Calibri"/>
            </a:endParaRPr>
          </a:p>
          <a:p>
            <a:pPr>
              <a:defRPr sz="850">
                <a:solidFill>
                  <a:srgbClr val="E2E8F0"/>
                </a:solidFill>
              </a:defRPr>
            </a:pPr>
            <a:endParaRPr lang="en-US" sz="1400" dirty="0"/>
          </a:p>
          <a:p>
            <a:pPr>
              <a:defRPr sz="850">
                <a:solidFill>
                  <a:srgbClr val="E2E8F0"/>
                </a:solidFill>
              </a:defRPr>
            </a:pPr>
            <a:r>
              <a:rPr sz="1400" dirty="0"/>
              <a:t>• Depo </a:t>
            </a:r>
            <a:r>
              <a:rPr sz="1400" dirty="0" err="1"/>
              <a:t>Odaklı</a:t>
            </a:r>
            <a:r>
              <a:rPr sz="1400" dirty="0"/>
              <a:t> </a:t>
            </a:r>
            <a:r>
              <a:rPr sz="1400" dirty="0" err="1"/>
              <a:t>Doğruluk</a:t>
            </a:r>
            <a:r>
              <a:rPr sz="1400" dirty="0"/>
              <a:t>: 29.044, 40.997 </a:t>
            </a:r>
            <a:r>
              <a:rPr sz="1400" dirty="0" err="1"/>
              <a:t>referans</a:t>
            </a:r>
            <a:r>
              <a:rPr sz="1400" dirty="0"/>
              <a:t> </a:t>
            </a:r>
            <a:r>
              <a:rPr sz="1400" dirty="0" err="1"/>
              <a:t>noktasıyla</a:t>
            </a:r>
            <a:r>
              <a:rPr sz="1400" dirty="0"/>
              <a:t> </a:t>
            </a:r>
            <a:r>
              <a:rPr sz="1400" dirty="0" err="1"/>
              <a:t>adres</a:t>
            </a:r>
            <a:r>
              <a:rPr sz="1400" dirty="0"/>
              <a:t> </a:t>
            </a:r>
            <a:r>
              <a:rPr sz="1400" dirty="0" err="1"/>
              <a:t>koordinat</a:t>
            </a:r>
            <a:r>
              <a:rPr sz="1400" dirty="0"/>
              <a:t> </a:t>
            </a:r>
            <a:r>
              <a:rPr sz="1400" dirty="0" err="1"/>
              <a:t>sapmalarını</a:t>
            </a:r>
            <a:r>
              <a:rPr sz="1400" dirty="0"/>
              <a:t> </a:t>
            </a:r>
            <a:r>
              <a:rPr sz="1400" dirty="0" err="1"/>
              <a:t>sıfıra</a:t>
            </a:r>
            <a:r>
              <a:rPr sz="1400" dirty="0"/>
              <a:t> </a:t>
            </a:r>
            <a:r>
              <a:rPr sz="1400" dirty="0" err="1"/>
              <a:t>indirir</a:t>
            </a:r>
            <a:r>
              <a:rPr sz="1400" dirty="0"/>
              <a:t>.</a:t>
            </a:r>
            <a:endParaRPr sz="1400">
              <a:ea typeface="Calibri"/>
              <a:cs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7920" y="3886200"/>
            <a:ext cx="5212080" cy="23317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rPr dirty="0"/>
              <a:t>⚠</a:t>
            </a:r>
            <a:r>
              <a:rPr sz="1400" dirty="0"/>
              <a:t>️ Kritik </a:t>
            </a:r>
            <a:r>
              <a:rPr sz="1400" dirty="0" err="1"/>
              <a:t>Optimizasyon</a:t>
            </a:r>
            <a:r>
              <a:rPr sz="1400" dirty="0"/>
              <a:t>: Direct Matrix Lookup</a:t>
            </a:r>
            <a:endParaRPr lang="en-US" sz="1400">
              <a:ea typeface="Calibri"/>
              <a:cs typeface="Calibri"/>
            </a:endParaRPr>
          </a:p>
          <a:p>
            <a:pPr>
              <a:defRPr sz="850">
                <a:solidFill>
                  <a:srgbClr val="E2E8F0"/>
                </a:solidFill>
              </a:defRPr>
            </a:pPr>
            <a:r>
              <a:rPr sz="1400" dirty="0"/>
              <a:t>• </a:t>
            </a:r>
            <a:r>
              <a:rPr sz="1400" dirty="0" err="1"/>
              <a:t>Önceki</a:t>
            </a:r>
            <a:r>
              <a:rPr sz="1400" dirty="0"/>
              <a:t> Hata: </a:t>
            </a:r>
            <a:r>
              <a:rPr sz="1400" dirty="0" err="1"/>
              <a:t>Süre</a:t>
            </a:r>
            <a:r>
              <a:rPr sz="1400" dirty="0"/>
              <a:t> </a:t>
            </a:r>
            <a:r>
              <a:rPr sz="1400" dirty="0" err="1"/>
              <a:t>ve</a:t>
            </a:r>
            <a:r>
              <a:rPr sz="1400" dirty="0"/>
              <a:t> </a:t>
            </a:r>
            <a:r>
              <a:rPr sz="1400" dirty="0" err="1"/>
              <a:t>Maliyet</a:t>
            </a:r>
            <a:r>
              <a:rPr sz="1400" dirty="0"/>
              <a:t> </a:t>
            </a:r>
            <a:r>
              <a:rPr sz="1400" dirty="0" err="1"/>
              <a:t>senaryolarında</a:t>
            </a:r>
            <a:r>
              <a:rPr sz="1400" dirty="0"/>
              <a:t> </a:t>
            </a:r>
            <a:r>
              <a:rPr sz="1400" dirty="0" err="1"/>
              <a:t>rota</a:t>
            </a:r>
            <a:r>
              <a:rPr sz="1400" dirty="0"/>
              <a:t> </a:t>
            </a:r>
            <a:r>
              <a:rPr sz="1400" dirty="0" err="1"/>
              <a:t>mesafesi</a:t>
            </a:r>
            <a:r>
              <a:rPr sz="1400" dirty="0"/>
              <a:t> Arc Cost </a:t>
            </a:r>
            <a:r>
              <a:rPr sz="1400" dirty="0" err="1"/>
              <a:t>değerinden</a:t>
            </a:r>
            <a:r>
              <a:rPr sz="1400" dirty="0"/>
              <a:t> </a:t>
            </a:r>
            <a:r>
              <a:rPr sz="1400" dirty="0" err="1"/>
              <a:t>okunduğu</a:t>
            </a:r>
            <a:r>
              <a:rPr sz="1400" dirty="0"/>
              <a:t> </a:t>
            </a:r>
            <a:r>
              <a:rPr sz="1400" dirty="0" err="1"/>
              <a:t>için</a:t>
            </a:r>
            <a:r>
              <a:rPr sz="1400" dirty="0"/>
              <a:t> km </a:t>
            </a:r>
            <a:r>
              <a:rPr sz="1400" dirty="0" err="1"/>
              <a:t>hesabı</a:t>
            </a:r>
            <a:r>
              <a:rPr sz="1400" dirty="0"/>
              <a:t> </a:t>
            </a:r>
            <a:r>
              <a:rPr sz="1400" dirty="0" err="1"/>
              <a:t>bozuluyordu</a:t>
            </a:r>
            <a:r>
              <a:rPr sz="1400" dirty="0"/>
              <a:t>.</a:t>
            </a:r>
            <a:endParaRPr sz="1400">
              <a:ea typeface="Calibri"/>
              <a:cs typeface="Calibri"/>
            </a:endParaRPr>
          </a:p>
          <a:p>
            <a:pPr>
              <a:defRPr sz="850">
                <a:solidFill>
                  <a:srgbClr val="E2E8F0"/>
                </a:solidFill>
              </a:defRPr>
            </a:pPr>
            <a:endParaRPr lang="en-US" sz="1400" dirty="0"/>
          </a:p>
          <a:p>
            <a:pPr>
              <a:defRPr sz="850">
                <a:solidFill>
                  <a:srgbClr val="E2E8F0"/>
                </a:solidFill>
              </a:defRPr>
            </a:pPr>
            <a:r>
              <a:rPr sz="1400" dirty="0"/>
              <a:t>• </a:t>
            </a:r>
            <a:r>
              <a:rPr sz="1400" dirty="0" err="1"/>
              <a:t>Yapılan</a:t>
            </a:r>
            <a:r>
              <a:rPr sz="1400" dirty="0"/>
              <a:t> </a:t>
            </a:r>
            <a:r>
              <a:rPr sz="1400" dirty="0" err="1"/>
              <a:t>Düzeltme</a:t>
            </a:r>
            <a:r>
              <a:rPr sz="1400" dirty="0"/>
              <a:t>: Hangi </a:t>
            </a:r>
            <a:r>
              <a:rPr sz="1400" dirty="0" err="1"/>
              <a:t>hedef</a:t>
            </a:r>
            <a:r>
              <a:rPr sz="1400" dirty="0"/>
              <a:t> </a:t>
            </a:r>
            <a:r>
              <a:rPr sz="1400" dirty="0" err="1"/>
              <a:t>senaryo</a:t>
            </a:r>
            <a:r>
              <a:rPr sz="1400" dirty="0"/>
              <a:t> </a:t>
            </a:r>
            <a:r>
              <a:rPr sz="1400" dirty="0" err="1"/>
              <a:t>seçilirse</a:t>
            </a:r>
            <a:r>
              <a:rPr sz="1400" dirty="0"/>
              <a:t> </a:t>
            </a:r>
            <a:r>
              <a:rPr sz="1400" dirty="0" err="1"/>
              <a:t>seçilsin</a:t>
            </a:r>
            <a:r>
              <a:rPr sz="1400" dirty="0"/>
              <a:t>, </a:t>
            </a:r>
            <a:r>
              <a:rPr sz="1400" dirty="0" err="1"/>
              <a:t>rota</a:t>
            </a:r>
            <a:r>
              <a:rPr sz="1400" dirty="0"/>
              <a:t> </a:t>
            </a:r>
            <a:r>
              <a:rPr sz="1400" dirty="0" err="1"/>
              <a:t>mesafesi</a:t>
            </a:r>
            <a:r>
              <a:rPr sz="1400" dirty="0"/>
              <a:t> </a:t>
            </a:r>
            <a:r>
              <a:rPr sz="1400" dirty="0" err="1"/>
              <a:t>doğrudan</a:t>
            </a:r>
            <a:r>
              <a:rPr sz="1400" dirty="0"/>
              <a:t> </a:t>
            </a:r>
            <a:r>
              <a:rPr sz="1400" dirty="0" err="1"/>
              <a:t>gerçek</a:t>
            </a:r>
            <a:r>
              <a:rPr sz="1400" dirty="0"/>
              <a:t> </a:t>
            </a:r>
            <a:r>
              <a:rPr sz="1400" dirty="0" err="1"/>
              <a:t>dist_m</a:t>
            </a:r>
            <a:r>
              <a:rPr sz="1400" dirty="0"/>
              <a:t> </a:t>
            </a:r>
            <a:r>
              <a:rPr sz="1400" dirty="0" err="1"/>
              <a:t>matrisinden</a:t>
            </a:r>
            <a:r>
              <a:rPr sz="1400" dirty="0"/>
              <a:t> </a:t>
            </a:r>
            <a:r>
              <a:rPr sz="1400" dirty="0" err="1"/>
              <a:t>hesaplanır</a:t>
            </a:r>
            <a:r>
              <a:rPr sz="1400" dirty="0"/>
              <a:t>.</a:t>
            </a:r>
            <a:endParaRPr sz="1400">
              <a:ea typeface="Calibri"/>
              <a:cs typeface="Calibri"/>
            </a:endParaRPr>
          </a:p>
          <a:p>
            <a:pPr>
              <a:defRPr sz="850">
                <a:solidFill>
                  <a:srgbClr val="E2E8F0"/>
                </a:solidFill>
              </a:defRPr>
            </a:pPr>
            <a:endParaRPr lang="en-US" sz="1400" dirty="0"/>
          </a:p>
          <a:p>
            <a:pPr>
              <a:defRPr sz="850">
                <a:solidFill>
                  <a:srgbClr val="E2E8F0"/>
                </a:solidFill>
              </a:defRPr>
            </a:pPr>
            <a:r>
              <a:rPr sz="1400" dirty="0"/>
              <a:t>• Bacak </a:t>
            </a:r>
            <a:r>
              <a:rPr sz="1400" dirty="0" err="1"/>
              <a:t>Detayı</a:t>
            </a:r>
            <a:r>
              <a:rPr sz="1400" dirty="0"/>
              <a:t>: Her </a:t>
            </a:r>
            <a:r>
              <a:rPr sz="1400" dirty="0" err="1"/>
              <a:t>segmentin</a:t>
            </a:r>
            <a:r>
              <a:rPr sz="1400" dirty="0"/>
              <a:t> </a:t>
            </a:r>
            <a:r>
              <a:rPr sz="1400" dirty="0" err="1"/>
              <a:t>mesafesi</a:t>
            </a:r>
            <a:r>
              <a:rPr sz="1400" dirty="0"/>
              <a:t> (A→B: 2.3km) </a:t>
            </a:r>
            <a:r>
              <a:rPr sz="1400" dirty="0" err="1"/>
              <a:t>ve</a:t>
            </a:r>
            <a:r>
              <a:rPr sz="1400" dirty="0"/>
              <a:t> </a:t>
            </a:r>
            <a:r>
              <a:rPr sz="1400" dirty="0" err="1"/>
              <a:t>gidiş</a:t>
            </a:r>
            <a:r>
              <a:rPr sz="1400" dirty="0"/>
              <a:t>/</a:t>
            </a:r>
            <a:r>
              <a:rPr sz="1400" dirty="0" err="1"/>
              <a:t>dönüş</a:t>
            </a:r>
            <a:r>
              <a:rPr sz="1400" dirty="0"/>
              <a:t> </a:t>
            </a:r>
            <a:r>
              <a:rPr sz="1400" dirty="0" err="1"/>
              <a:t>km'leri</a:t>
            </a:r>
            <a:r>
              <a:rPr sz="1400" dirty="0"/>
              <a:t> </a:t>
            </a:r>
            <a:r>
              <a:rPr sz="1400" dirty="0" err="1"/>
              <a:t>ayrı</a:t>
            </a:r>
            <a:r>
              <a:rPr sz="1400" dirty="0"/>
              <a:t> </a:t>
            </a:r>
            <a:r>
              <a:rPr sz="1400" dirty="0" err="1"/>
              <a:t>ayrı</a:t>
            </a:r>
            <a:r>
              <a:rPr sz="1400" dirty="0"/>
              <a:t> </a:t>
            </a:r>
            <a:r>
              <a:rPr sz="1400" dirty="0" err="1"/>
              <a:t>netleştirilmiştir</a:t>
            </a:r>
            <a:r>
              <a:rPr sz="1400" dirty="0"/>
              <a:t>.</a:t>
            </a:r>
            <a:endParaRPr sz="14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05 / MODEL KISITLARI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Gerçek Dünya Lojistik Kısıtları (Kapasite &amp; Filo Uyumu)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1887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 b="1">
                <a:solidFill>
                  <a:srgbClr val="10B981"/>
                </a:solidFill>
                <a:latin typeface="Segoe UI"/>
              </a:defRPr>
            </a:pPr>
            <a:r>
              <a:t>06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2286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1250" b="1">
                <a:solidFill>
                  <a:srgbClr val="10B981"/>
                </a:solidFill>
              </a:defRPr>
            </a:pPr>
            <a:r>
              <a:rPr sz="1200" dirty="0"/>
              <a:t>⚖️ 1. </a:t>
            </a:r>
            <a:r>
              <a:rPr sz="1200" dirty="0" err="1"/>
              <a:t>Çift</a:t>
            </a:r>
            <a:r>
              <a:rPr sz="1200" dirty="0"/>
              <a:t> </a:t>
            </a:r>
            <a:r>
              <a:rPr sz="1200" dirty="0" err="1"/>
              <a:t>Kapasite</a:t>
            </a:r>
            <a:r>
              <a:rPr sz="1200" dirty="0"/>
              <a:t> Denetimi (KG + Desi)</a:t>
            </a:r>
            <a:endParaRPr lang="en-US" sz="1200" dirty="0">
              <a:ea typeface="Calibri"/>
              <a:cs typeface="Calibri"/>
            </a:endParaRPr>
          </a:p>
          <a:p>
            <a:pPr>
              <a:defRPr sz="950">
                <a:solidFill>
                  <a:srgbClr val="94A3B8"/>
                </a:solidFill>
              </a:defRPr>
            </a:pPr>
            <a:r>
              <a:rPr sz="1200" dirty="0"/>
              <a:t>Her </a:t>
            </a:r>
            <a:r>
              <a:rPr sz="1200" dirty="0" err="1"/>
              <a:t>aracın</a:t>
            </a:r>
            <a:r>
              <a:rPr sz="1200" dirty="0"/>
              <a:t> </a:t>
            </a:r>
            <a:r>
              <a:rPr sz="1200" dirty="0" err="1"/>
              <a:t>aynı</a:t>
            </a:r>
            <a:r>
              <a:rPr sz="1200" dirty="0"/>
              <a:t> </a:t>
            </a:r>
            <a:r>
              <a:rPr sz="1200" dirty="0" err="1"/>
              <a:t>anda</a:t>
            </a:r>
            <a:r>
              <a:rPr sz="1200" dirty="0"/>
              <a:t> hem </a:t>
            </a:r>
            <a:r>
              <a:rPr sz="1200" dirty="0" err="1"/>
              <a:t>Ağırlık</a:t>
            </a:r>
            <a:r>
              <a:rPr sz="1200" dirty="0"/>
              <a:t> (kg) hem de Hacim (desi) </a:t>
            </a:r>
            <a:r>
              <a:rPr sz="1200" dirty="0" err="1"/>
              <a:t>sınırı</a:t>
            </a:r>
            <a:r>
              <a:rPr sz="1200" dirty="0"/>
              <a:t> </a:t>
            </a:r>
            <a:r>
              <a:rPr sz="1200" dirty="0" err="1"/>
              <a:t>vardır</a:t>
            </a:r>
            <a:r>
              <a:rPr sz="1200" dirty="0"/>
              <a:t>. Model </a:t>
            </a:r>
            <a:r>
              <a:rPr sz="1200" dirty="0" err="1"/>
              <a:t>iki</a:t>
            </a:r>
            <a:r>
              <a:rPr sz="1200" dirty="0"/>
              <a:t> </a:t>
            </a:r>
            <a:r>
              <a:rPr sz="1200" dirty="0" err="1"/>
              <a:t>boyutu</a:t>
            </a:r>
            <a:r>
              <a:rPr sz="1200" dirty="0"/>
              <a:t> da </a:t>
            </a:r>
            <a:r>
              <a:rPr sz="1200" dirty="0" err="1"/>
              <a:t>eşzamanlı</a:t>
            </a:r>
            <a:r>
              <a:rPr sz="1200" dirty="0"/>
              <a:t> </a:t>
            </a:r>
            <a:r>
              <a:rPr sz="1200" dirty="0" err="1"/>
              <a:t>izler</a:t>
            </a:r>
            <a:r>
              <a:rPr sz="1200" dirty="0"/>
              <a:t>; </a:t>
            </a:r>
            <a:r>
              <a:rPr sz="1200" dirty="0" err="1"/>
              <a:t>hafif</a:t>
            </a:r>
            <a:r>
              <a:rPr sz="1200" dirty="0"/>
              <a:t> ama </a:t>
            </a:r>
            <a:r>
              <a:rPr sz="1200" dirty="0" err="1"/>
              <a:t>koli</a:t>
            </a:r>
            <a:r>
              <a:rPr sz="1200" dirty="0"/>
              <a:t> </a:t>
            </a:r>
            <a:r>
              <a:rPr sz="1200" dirty="0" err="1"/>
              <a:t>ebatları</a:t>
            </a:r>
            <a:r>
              <a:rPr sz="1200" dirty="0"/>
              <a:t> </a:t>
            </a:r>
            <a:r>
              <a:rPr sz="1200" dirty="0" err="1"/>
              <a:t>çok</a:t>
            </a:r>
            <a:r>
              <a:rPr sz="1200" dirty="0"/>
              <a:t> </a:t>
            </a:r>
            <a:r>
              <a:rPr sz="1200" dirty="0" err="1"/>
              <a:t>büyük</a:t>
            </a:r>
            <a:r>
              <a:rPr sz="1200" dirty="0"/>
              <a:t> </a:t>
            </a:r>
            <a:r>
              <a:rPr sz="1200" dirty="0" err="1"/>
              <a:t>paketlerin</a:t>
            </a:r>
            <a:r>
              <a:rPr sz="1200" dirty="0"/>
              <a:t> </a:t>
            </a:r>
            <a:r>
              <a:rPr sz="1200" dirty="0" err="1"/>
              <a:t>aracı</a:t>
            </a:r>
            <a:r>
              <a:rPr sz="1200" dirty="0"/>
              <a:t> </a:t>
            </a:r>
            <a:r>
              <a:rPr sz="1200" dirty="0" err="1"/>
              <a:t>erken</a:t>
            </a:r>
            <a:r>
              <a:rPr sz="1200" dirty="0"/>
              <a:t> </a:t>
            </a:r>
            <a:r>
              <a:rPr sz="1200" dirty="0" err="1"/>
              <a:t>doldurarak</a:t>
            </a:r>
            <a:r>
              <a:rPr sz="1200" dirty="0"/>
              <a:t> </a:t>
            </a:r>
            <a:r>
              <a:rPr sz="1200" dirty="0" err="1"/>
              <a:t>taşmasını</a:t>
            </a:r>
            <a:r>
              <a:rPr sz="1200" dirty="0"/>
              <a:t> </a:t>
            </a:r>
            <a:r>
              <a:rPr sz="1200" dirty="0" err="1"/>
              <a:t>matematiksel</a:t>
            </a:r>
            <a:r>
              <a:rPr sz="1200" dirty="0"/>
              <a:t> </a:t>
            </a:r>
            <a:r>
              <a:rPr sz="1200" dirty="0" err="1"/>
              <a:t>olarak</a:t>
            </a:r>
            <a:r>
              <a:rPr sz="1200" dirty="0"/>
              <a:t> </a:t>
            </a:r>
            <a:r>
              <a:rPr sz="1200" dirty="0" err="1"/>
              <a:t>engeller</a:t>
            </a:r>
            <a:r>
              <a:rPr sz="1200" dirty="0"/>
              <a:t>.</a:t>
            </a:r>
            <a:endParaRPr sz="1200" dirty="0">
              <a:ea typeface="Calibri"/>
              <a:cs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120640" cy="2286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1250" b="1">
                <a:solidFill>
                  <a:srgbClr val="3B82F6"/>
                </a:solidFill>
              </a:defRPr>
            </a:pPr>
            <a:r>
              <a:rPr sz="1200" dirty="0"/>
              <a:t>🛵 2. </a:t>
            </a:r>
            <a:r>
              <a:rPr sz="1200" dirty="0" err="1"/>
              <a:t>Heterojen</a:t>
            </a:r>
            <a:r>
              <a:rPr sz="1200" dirty="0"/>
              <a:t> Filo &amp; Paket </a:t>
            </a:r>
            <a:r>
              <a:rPr sz="1200" dirty="0" err="1"/>
              <a:t>Uyumluluğu</a:t>
            </a:r>
            <a:endParaRPr lang="en-US" sz="1200" dirty="0" err="1">
              <a:ea typeface="Calibri"/>
              <a:cs typeface="Calibri"/>
            </a:endParaRPr>
          </a:p>
          <a:p>
            <a:pPr>
              <a:defRPr sz="950">
                <a:solidFill>
                  <a:srgbClr val="94A3B8"/>
                </a:solidFill>
              </a:defRPr>
            </a:pPr>
            <a:r>
              <a:rPr sz="1200" err="1"/>
              <a:t>Filoda</a:t>
            </a:r>
            <a:r>
              <a:rPr sz="1200" dirty="0"/>
              <a:t> </a:t>
            </a:r>
            <a:r>
              <a:rPr sz="1200" err="1"/>
              <a:t>Motosiklet</a:t>
            </a:r>
            <a:r>
              <a:rPr sz="1200" dirty="0"/>
              <a:t> (70 kg / 40 desi), </a:t>
            </a:r>
            <a:r>
              <a:rPr sz="1200" err="1"/>
              <a:t>Panelvan</a:t>
            </a:r>
            <a:r>
              <a:rPr sz="1200" dirty="0"/>
              <a:t> (1000 kg / 600 desi) </a:t>
            </a:r>
            <a:r>
              <a:rPr sz="1200" err="1"/>
              <a:t>ve</a:t>
            </a:r>
            <a:r>
              <a:rPr sz="1200" dirty="0"/>
              <a:t> </a:t>
            </a:r>
            <a:r>
              <a:rPr sz="1200" err="1"/>
              <a:t>Kamyonet</a:t>
            </a:r>
            <a:r>
              <a:rPr sz="1200" dirty="0"/>
              <a:t> (2000 kg / 1200 desi) </a:t>
            </a:r>
            <a:r>
              <a:rPr sz="1200" err="1"/>
              <a:t>araçları</a:t>
            </a:r>
            <a:r>
              <a:rPr sz="1200" dirty="0"/>
              <a:t> </a:t>
            </a:r>
            <a:r>
              <a:rPr sz="1200" err="1"/>
              <a:t>tanımlıdır</a:t>
            </a:r>
            <a:r>
              <a:rPr sz="1200" dirty="0"/>
              <a:t>. </a:t>
            </a:r>
            <a:r>
              <a:rPr sz="1200" err="1"/>
              <a:t>Ağır</a:t>
            </a:r>
            <a:r>
              <a:rPr sz="1200" dirty="0"/>
              <a:t> </a:t>
            </a:r>
            <a:r>
              <a:rPr sz="1200" err="1"/>
              <a:t>yük</a:t>
            </a:r>
            <a:r>
              <a:rPr sz="1200" dirty="0"/>
              <a:t> (AGIR_YUK) </a:t>
            </a:r>
            <a:r>
              <a:rPr sz="1200" err="1"/>
              <a:t>veya</a:t>
            </a:r>
            <a:r>
              <a:rPr sz="1200" dirty="0"/>
              <a:t> 30 desi / 15 kg </a:t>
            </a:r>
            <a:r>
              <a:rPr sz="1200" err="1"/>
              <a:t>üzeri</a:t>
            </a:r>
            <a:r>
              <a:rPr sz="1200" dirty="0"/>
              <a:t> </a:t>
            </a:r>
            <a:r>
              <a:rPr sz="1200" err="1"/>
              <a:t>kargoların</a:t>
            </a:r>
            <a:r>
              <a:rPr sz="1200" dirty="0"/>
              <a:t> </a:t>
            </a:r>
            <a:r>
              <a:rPr sz="1200" err="1"/>
              <a:t>motokuryelere</a:t>
            </a:r>
            <a:r>
              <a:rPr sz="1200" dirty="0"/>
              <a:t> </a:t>
            </a:r>
            <a:r>
              <a:rPr sz="1200" err="1"/>
              <a:t>verilmesi</a:t>
            </a:r>
            <a:r>
              <a:rPr sz="1200" dirty="0"/>
              <a:t> </a:t>
            </a:r>
            <a:r>
              <a:rPr sz="1200" err="1"/>
              <a:t>kural</a:t>
            </a:r>
            <a:r>
              <a:rPr sz="1200" dirty="0"/>
              <a:t> </a:t>
            </a:r>
            <a:r>
              <a:rPr sz="1200" err="1"/>
              <a:t>tabanlı</a:t>
            </a:r>
            <a:r>
              <a:rPr sz="1200" dirty="0"/>
              <a:t> </a:t>
            </a:r>
            <a:r>
              <a:rPr sz="1200" err="1"/>
              <a:t>engellenmiştir</a:t>
            </a:r>
            <a:r>
              <a:rPr sz="1200" dirty="0"/>
              <a:t>.</a:t>
            </a:r>
            <a:endParaRPr sz="1200" dirty="0">
              <a:ea typeface="Calibri"/>
              <a:cs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120640" cy="2286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1250" b="1">
                <a:solidFill>
                  <a:srgbClr val="F59E0B"/>
                </a:solidFill>
              </a:defRPr>
            </a:pPr>
            <a:r>
              <a:rPr dirty="0"/>
              <a:t>⏱</a:t>
            </a:r>
            <a:r>
              <a:rPr sz="1200" dirty="0"/>
              <a:t>️ 3. </a:t>
            </a:r>
            <a:r>
              <a:rPr sz="1200" dirty="0" err="1"/>
              <a:t>Maksimum</a:t>
            </a:r>
            <a:r>
              <a:rPr sz="1200" dirty="0"/>
              <a:t> Vardiya &amp; Mesai </a:t>
            </a:r>
            <a:r>
              <a:rPr sz="1200" dirty="0" err="1"/>
              <a:t>Sınırı</a:t>
            </a:r>
            <a:endParaRPr lang="en-US" sz="1200" dirty="0" err="1">
              <a:ea typeface="Calibri"/>
              <a:cs typeface="Calibri"/>
            </a:endParaRPr>
          </a:p>
          <a:p>
            <a:pPr>
              <a:defRPr sz="950">
                <a:solidFill>
                  <a:srgbClr val="94A3B8"/>
                </a:solidFill>
              </a:defRPr>
            </a:pPr>
            <a:r>
              <a:rPr sz="1200" dirty="0" err="1"/>
              <a:t>Sürücülerin</a:t>
            </a:r>
            <a:r>
              <a:rPr sz="1200" dirty="0"/>
              <a:t> </a:t>
            </a:r>
            <a:r>
              <a:rPr sz="1200" dirty="0" err="1"/>
              <a:t>yasal</a:t>
            </a:r>
            <a:r>
              <a:rPr sz="1200" dirty="0"/>
              <a:t> </a:t>
            </a:r>
            <a:r>
              <a:rPr sz="1200" dirty="0" err="1"/>
              <a:t>çalışma</a:t>
            </a:r>
            <a:r>
              <a:rPr sz="1200" dirty="0"/>
              <a:t> </a:t>
            </a:r>
            <a:r>
              <a:rPr sz="1200" dirty="0" err="1"/>
              <a:t>saatleri</a:t>
            </a:r>
            <a:r>
              <a:rPr sz="1200" dirty="0"/>
              <a:t> (</a:t>
            </a:r>
            <a:r>
              <a:rPr sz="1200" dirty="0" err="1"/>
              <a:t>maksimum</a:t>
            </a:r>
            <a:r>
              <a:rPr sz="1200" dirty="0"/>
              <a:t> 480-540 </a:t>
            </a:r>
            <a:r>
              <a:rPr sz="1200" dirty="0" err="1"/>
              <a:t>dakika</a:t>
            </a:r>
            <a:r>
              <a:rPr sz="1200" dirty="0"/>
              <a:t> / 8-9 </a:t>
            </a:r>
            <a:r>
              <a:rPr sz="1200" dirty="0" err="1"/>
              <a:t>saat</a:t>
            </a:r>
            <a:r>
              <a:rPr sz="1200" dirty="0"/>
              <a:t>) </a:t>
            </a:r>
            <a:r>
              <a:rPr sz="1200" dirty="0" err="1"/>
              <a:t>aşılmaz</a:t>
            </a:r>
            <a:r>
              <a:rPr sz="1200" dirty="0"/>
              <a:t>. </a:t>
            </a:r>
            <a:r>
              <a:rPr sz="1200" dirty="0" err="1"/>
              <a:t>Sürüş</a:t>
            </a:r>
            <a:r>
              <a:rPr sz="1200" dirty="0"/>
              <a:t> </a:t>
            </a:r>
            <a:r>
              <a:rPr sz="1200" dirty="0" err="1"/>
              <a:t>süreleri</a:t>
            </a:r>
            <a:r>
              <a:rPr sz="1200" dirty="0"/>
              <a:t> </a:t>
            </a:r>
            <a:r>
              <a:rPr sz="1200" dirty="0" err="1"/>
              <a:t>ve</a:t>
            </a:r>
            <a:r>
              <a:rPr sz="1200" dirty="0"/>
              <a:t> </a:t>
            </a:r>
            <a:r>
              <a:rPr sz="1200" dirty="0" err="1"/>
              <a:t>adresteki</a:t>
            </a:r>
            <a:r>
              <a:rPr sz="1200" dirty="0"/>
              <a:t> </a:t>
            </a:r>
            <a:r>
              <a:rPr sz="1200" dirty="0" err="1"/>
              <a:t>teslimat</a:t>
            </a:r>
            <a:r>
              <a:rPr sz="1200" dirty="0"/>
              <a:t> </a:t>
            </a:r>
            <a:r>
              <a:rPr sz="1200" dirty="0" err="1"/>
              <a:t>süreleri</a:t>
            </a:r>
            <a:r>
              <a:rPr sz="1200" dirty="0"/>
              <a:t> </a:t>
            </a:r>
            <a:r>
              <a:rPr sz="1200" dirty="0" err="1"/>
              <a:t>toplanarak</a:t>
            </a:r>
            <a:r>
              <a:rPr sz="1200" dirty="0"/>
              <a:t> </a:t>
            </a:r>
            <a:r>
              <a:rPr sz="1200" dirty="0" err="1"/>
              <a:t>mesai</a:t>
            </a:r>
            <a:r>
              <a:rPr sz="1200" dirty="0"/>
              <a:t> </a:t>
            </a:r>
            <a:r>
              <a:rPr sz="1200" dirty="0" err="1"/>
              <a:t>aşımı</a:t>
            </a:r>
            <a:r>
              <a:rPr sz="1200" dirty="0"/>
              <a:t> </a:t>
            </a:r>
            <a:r>
              <a:rPr sz="1200" dirty="0" err="1"/>
              <a:t>olmadan</a:t>
            </a:r>
            <a:r>
              <a:rPr sz="1200" dirty="0"/>
              <a:t> </a:t>
            </a:r>
            <a:r>
              <a:rPr sz="1200" dirty="0" err="1"/>
              <a:t>gün</a:t>
            </a:r>
            <a:r>
              <a:rPr sz="1200" dirty="0"/>
              <a:t> </a:t>
            </a:r>
            <a:r>
              <a:rPr sz="1200" dirty="0" err="1"/>
              <a:t>içi</a:t>
            </a:r>
            <a:r>
              <a:rPr sz="1200" dirty="0"/>
              <a:t> </a:t>
            </a:r>
            <a:r>
              <a:rPr sz="1200" dirty="0" err="1"/>
              <a:t>rota</a:t>
            </a:r>
            <a:r>
              <a:rPr sz="1200" dirty="0"/>
              <a:t> </a:t>
            </a:r>
            <a:r>
              <a:rPr sz="1200" dirty="0" err="1"/>
              <a:t>planı</a:t>
            </a:r>
            <a:r>
              <a:rPr sz="1200" dirty="0"/>
              <a:t> </a:t>
            </a:r>
            <a:r>
              <a:rPr sz="1200" dirty="0" err="1"/>
              <a:t>tamamlanır</a:t>
            </a:r>
            <a:r>
              <a:rPr dirty="0"/>
              <a:t>.</a:t>
            </a:r>
            <a:endParaRPr dirty="0">
              <a:ea typeface="Calibri"/>
              <a:cs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0" y="3840480"/>
            <a:ext cx="5120640" cy="2286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1250" b="1">
                <a:solidFill>
                  <a:srgbClr val="A855F7"/>
                </a:solidFill>
              </a:defRPr>
            </a:pPr>
            <a:r>
              <a:rPr dirty="0"/>
              <a:t>📍</a:t>
            </a:r>
            <a:r>
              <a:rPr sz="1200" dirty="0"/>
              <a:t> 4. </a:t>
            </a:r>
            <a:r>
              <a:rPr sz="1200" dirty="0" err="1"/>
              <a:t>Maksimum</a:t>
            </a:r>
            <a:r>
              <a:rPr sz="1200" dirty="0"/>
              <a:t> Durak </a:t>
            </a:r>
            <a:r>
              <a:rPr sz="1200" dirty="0" err="1"/>
              <a:t>Sınırı</a:t>
            </a:r>
            <a:endParaRPr lang="en-US" sz="1200" dirty="0" err="1">
              <a:ea typeface="Calibri"/>
              <a:cs typeface="Calibri"/>
            </a:endParaRPr>
          </a:p>
          <a:p>
            <a:pPr>
              <a:defRPr sz="950">
                <a:solidFill>
                  <a:srgbClr val="94A3B8"/>
                </a:solidFill>
              </a:defRPr>
            </a:pPr>
            <a:r>
              <a:rPr sz="1200" dirty="0" err="1"/>
              <a:t>Araç</a:t>
            </a:r>
            <a:r>
              <a:rPr sz="1200" dirty="0"/>
              <a:t> </a:t>
            </a:r>
            <a:r>
              <a:rPr sz="1200" dirty="0" err="1"/>
              <a:t>tipine</a:t>
            </a:r>
            <a:r>
              <a:rPr sz="1200" dirty="0"/>
              <a:t> </a:t>
            </a:r>
            <a:r>
              <a:rPr sz="1200" dirty="0" err="1"/>
              <a:t>ve</a:t>
            </a:r>
            <a:r>
              <a:rPr sz="1200" dirty="0"/>
              <a:t> </a:t>
            </a:r>
            <a:r>
              <a:rPr sz="1200" dirty="0" err="1"/>
              <a:t>bölge</a:t>
            </a:r>
            <a:r>
              <a:rPr sz="1200" dirty="0"/>
              <a:t> </a:t>
            </a:r>
            <a:r>
              <a:rPr sz="1200" dirty="0" err="1"/>
              <a:t>yoğunluğuna</a:t>
            </a:r>
            <a:r>
              <a:rPr sz="1200" dirty="0"/>
              <a:t> </a:t>
            </a:r>
            <a:r>
              <a:rPr sz="1200" dirty="0" err="1"/>
              <a:t>göre</a:t>
            </a:r>
            <a:r>
              <a:rPr sz="1200" dirty="0"/>
              <a:t> </a:t>
            </a:r>
            <a:r>
              <a:rPr sz="1200" dirty="0" err="1"/>
              <a:t>tek</a:t>
            </a:r>
            <a:r>
              <a:rPr sz="1200" dirty="0"/>
              <a:t> </a:t>
            </a:r>
            <a:r>
              <a:rPr sz="1200" dirty="0" err="1"/>
              <a:t>bir</a:t>
            </a:r>
            <a:r>
              <a:rPr sz="1200" dirty="0"/>
              <a:t> araca </a:t>
            </a:r>
            <a:r>
              <a:rPr sz="1200" dirty="0" err="1"/>
              <a:t>atanabilecek</a:t>
            </a:r>
            <a:r>
              <a:rPr sz="1200" dirty="0"/>
              <a:t> </a:t>
            </a:r>
            <a:r>
              <a:rPr sz="1200" dirty="0" err="1"/>
              <a:t>maksimum</a:t>
            </a:r>
            <a:r>
              <a:rPr sz="1200" dirty="0"/>
              <a:t> </a:t>
            </a:r>
            <a:r>
              <a:rPr sz="1200" dirty="0" err="1"/>
              <a:t>durak</a:t>
            </a:r>
            <a:r>
              <a:rPr sz="1200" dirty="0"/>
              <a:t> </a:t>
            </a:r>
            <a:r>
              <a:rPr sz="1200" dirty="0" err="1"/>
              <a:t>sayısı</a:t>
            </a:r>
            <a:r>
              <a:rPr sz="1200" dirty="0"/>
              <a:t> (</a:t>
            </a:r>
            <a:r>
              <a:rPr sz="1200" dirty="0" err="1"/>
              <a:t>örn</a:t>
            </a:r>
            <a:r>
              <a:rPr sz="1200" dirty="0"/>
              <a:t>. </a:t>
            </a:r>
            <a:r>
              <a:rPr sz="1200" dirty="0" err="1"/>
              <a:t>Motosiklet</a:t>
            </a:r>
            <a:r>
              <a:rPr sz="1200" dirty="0"/>
              <a:t>: 15, </a:t>
            </a:r>
            <a:r>
              <a:rPr sz="1200" dirty="0" err="1"/>
              <a:t>Panelvan</a:t>
            </a:r>
            <a:r>
              <a:rPr sz="1200" dirty="0"/>
              <a:t>: 30) </a:t>
            </a:r>
            <a:r>
              <a:rPr sz="1200" dirty="0" err="1"/>
              <a:t>sınırlandırılarak</a:t>
            </a:r>
            <a:r>
              <a:rPr sz="1200" dirty="0"/>
              <a:t> </a:t>
            </a:r>
            <a:r>
              <a:rPr sz="1200" dirty="0" err="1"/>
              <a:t>kurye</a:t>
            </a:r>
            <a:r>
              <a:rPr sz="1200" dirty="0"/>
              <a:t> </a:t>
            </a:r>
            <a:r>
              <a:rPr sz="1200" dirty="0" err="1"/>
              <a:t>iş</a:t>
            </a:r>
            <a:r>
              <a:rPr sz="1200" dirty="0"/>
              <a:t> </a:t>
            </a:r>
            <a:r>
              <a:rPr sz="1200" dirty="0" err="1"/>
              <a:t>yükü</a:t>
            </a:r>
            <a:r>
              <a:rPr sz="1200" dirty="0"/>
              <a:t> </a:t>
            </a:r>
            <a:r>
              <a:rPr sz="1200" dirty="0" err="1"/>
              <a:t>dengelenir</a:t>
            </a:r>
            <a:r>
              <a:rPr sz="1200" dirty="0"/>
              <a:t> </a:t>
            </a:r>
            <a:r>
              <a:rPr sz="1200" dirty="0" err="1"/>
              <a:t>ve</a:t>
            </a:r>
            <a:r>
              <a:rPr sz="1200" dirty="0"/>
              <a:t> </a:t>
            </a:r>
            <a:r>
              <a:rPr sz="1200" dirty="0" err="1"/>
              <a:t>aşırı</a:t>
            </a:r>
            <a:r>
              <a:rPr sz="1200" dirty="0"/>
              <a:t> </a:t>
            </a:r>
            <a:r>
              <a:rPr sz="1200" dirty="0" err="1"/>
              <a:t>yığılmalar</a:t>
            </a:r>
            <a:r>
              <a:rPr sz="1200" dirty="0"/>
              <a:t> </a:t>
            </a:r>
            <a:r>
              <a:rPr sz="1200" dirty="0" err="1"/>
              <a:t>önlen</a:t>
            </a:r>
            <a:r>
              <a:rPr dirty="0" err="1"/>
              <a:t>ir</a:t>
            </a:r>
            <a:r>
              <a:rPr dirty="0"/>
              <a:t>.</a:t>
            </a:r>
            <a:endParaRPr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06 / İLERI KISITLAR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Zaman Pencereleri, Soft SLA Cezaları &amp; Backhaul Toplama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1887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 b="1">
                <a:solidFill>
                  <a:srgbClr val="10B981"/>
                </a:solidFill>
                <a:latin typeface="Segoe UI"/>
              </a:defRPr>
            </a:pPr>
            <a:r>
              <a:t>07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2286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1250" b="1">
                <a:solidFill>
                  <a:srgbClr val="38BDF8"/>
                </a:solidFill>
              </a:defRPr>
            </a:pPr>
            <a:r>
              <a:rPr sz="1200" dirty="0"/>
              <a:t>🕒 1. </a:t>
            </a:r>
            <a:r>
              <a:rPr sz="1200" dirty="0" err="1"/>
              <a:t>Randevulu</a:t>
            </a:r>
            <a:r>
              <a:rPr sz="1200" dirty="0"/>
              <a:t> Teslimat </a:t>
            </a:r>
            <a:r>
              <a:rPr sz="1200" dirty="0" err="1"/>
              <a:t>Pencereleri</a:t>
            </a:r>
            <a:r>
              <a:rPr sz="1200" dirty="0"/>
              <a:t> (VRPTW)</a:t>
            </a:r>
            <a:endParaRPr lang="en-US" sz="1200" dirty="0">
              <a:ea typeface="Calibri"/>
              <a:cs typeface="Calibri"/>
            </a:endParaRPr>
          </a:p>
          <a:p>
            <a:pPr>
              <a:defRPr sz="950">
                <a:solidFill>
                  <a:srgbClr val="94A3B8"/>
                </a:solidFill>
              </a:defRPr>
            </a:pPr>
            <a:r>
              <a:rPr sz="1200" dirty="0" err="1"/>
              <a:t>Müşterinin</a:t>
            </a:r>
            <a:r>
              <a:rPr sz="1200" dirty="0"/>
              <a:t> </a:t>
            </a:r>
            <a:r>
              <a:rPr sz="1200" dirty="0" err="1"/>
              <a:t>talep</a:t>
            </a:r>
            <a:r>
              <a:rPr sz="1200" dirty="0"/>
              <a:t> </a:t>
            </a:r>
            <a:r>
              <a:rPr sz="1200" dirty="0" err="1"/>
              <a:t>ettiği</a:t>
            </a:r>
            <a:r>
              <a:rPr sz="1200" dirty="0"/>
              <a:t> </a:t>
            </a:r>
            <a:r>
              <a:rPr sz="1200" dirty="0" err="1"/>
              <a:t>saat</a:t>
            </a:r>
            <a:r>
              <a:rPr sz="1200" dirty="0"/>
              <a:t> </a:t>
            </a:r>
            <a:r>
              <a:rPr sz="1200" dirty="0" err="1"/>
              <a:t>aralıklarında</a:t>
            </a:r>
            <a:r>
              <a:rPr sz="1200" dirty="0"/>
              <a:t> (</a:t>
            </a:r>
            <a:r>
              <a:rPr sz="1200" dirty="0" err="1"/>
              <a:t>örn</a:t>
            </a:r>
            <a:r>
              <a:rPr sz="1200" dirty="0"/>
              <a:t>: 09:00-12:00 </a:t>
            </a:r>
            <a:r>
              <a:rPr sz="1200" dirty="0" err="1"/>
              <a:t>veya</a:t>
            </a:r>
            <a:r>
              <a:rPr sz="1200" dirty="0"/>
              <a:t> 14:00-18:00) </a:t>
            </a:r>
            <a:r>
              <a:rPr sz="1200" dirty="0" err="1"/>
              <a:t>adrese</a:t>
            </a:r>
            <a:r>
              <a:rPr sz="1200" dirty="0"/>
              <a:t> </a:t>
            </a:r>
            <a:r>
              <a:rPr sz="1200" dirty="0" err="1"/>
              <a:t>varış</a:t>
            </a:r>
            <a:r>
              <a:rPr sz="1200" dirty="0"/>
              <a:t> </a:t>
            </a:r>
            <a:r>
              <a:rPr sz="1200" dirty="0" err="1"/>
              <a:t>hedeflenir</a:t>
            </a:r>
            <a:r>
              <a:rPr sz="1200" dirty="0"/>
              <a:t>. Erken </a:t>
            </a:r>
            <a:r>
              <a:rPr sz="1200" dirty="0" err="1"/>
              <a:t>varışta</a:t>
            </a:r>
            <a:r>
              <a:rPr sz="1200" dirty="0"/>
              <a:t> </a:t>
            </a:r>
            <a:r>
              <a:rPr sz="1200" dirty="0" err="1"/>
              <a:t>aracın</a:t>
            </a:r>
            <a:r>
              <a:rPr sz="1200" dirty="0"/>
              <a:t> </a:t>
            </a:r>
            <a:r>
              <a:rPr sz="1200" dirty="0" err="1"/>
              <a:t>beklemesi</a:t>
            </a:r>
            <a:r>
              <a:rPr sz="1200" dirty="0"/>
              <a:t>, </a:t>
            </a:r>
            <a:r>
              <a:rPr sz="1200" dirty="0" err="1"/>
              <a:t>geç</a:t>
            </a:r>
            <a:r>
              <a:rPr sz="1200" dirty="0"/>
              <a:t> </a:t>
            </a:r>
            <a:r>
              <a:rPr sz="1200" dirty="0" err="1"/>
              <a:t>varışta</a:t>
            </a:r>
            <a:r>
              <a:rPr sz="1200" dirty="0"/>
              <a:t> </a:t>
            </a:r>
            <a:r>
              <a:rPr sz="1200" dirty="0" err="1"/>
              <a:t>ise</a:t>
            </a:r>
            <a:r>
              <a:rPr sz="1200" dirty="0"/>
              <a:t> </a:t>
            </a:r>
            <a:r>
              <a:rPr sz="1200" dirty="0" err="1"/>
              <a:t>gecikme</a:t>
            </a:r>
            <a:r>
              <a:rPr sz="1200" dirty="0"/>
              <a:t> </a:t>
            </a:r>
            <a:r>
              <a:rPr sz="1200" dirty="0" err="1"/>
              <a:t>süresinin</a:t>
            </a:r>
            <a:r>
              <a:rPr sz="1200" dirty="0"/>
              <a:t> </a:t>
            </a:r>
            <a:r>
              <a:rPr sz="1200" dirty="0" err="1"/>
              <a:t>hesaplanması</a:t>
            </a:r>
            <a:r>
              <a:rPr sz="1200" dirty="0"/>
              <a:t> </a:t>
            </a:r>
            <a:r>
              <a:rPr sz="1200" dirty="0" err="1"/>
              <a:t>modellenmiştir</a:t>
            </a:r>
            <a:r>
              <a:rPr sz="1200" dirty="0"/>
              <a:t>.</a:t>
            </a:r>
            <a:endParaRPr sz="1200" dirty="0">
              <a:ea typeface="Calibri"/>
              <a:cs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120640" cy="2286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1250" b="1">
                <a:solidFill>
                  <a:srgbClr val="10B981"/>
                </a:solidFill>
              </a:defRPr>
            </a:pPr>
            <a:r>
              <a:rPr sz="1200" dirty="0"/>
              <a:t>⏳ 2. Durak Başı Servis </a:t>
            </a:r>
            <a:r>
              <a:rPr sz="1200" dirty="0" err="1"/>
              <a:t>Süresi</a:t>
            </a:r>
            <a:endParaRPr lang="en-US" sz="1200" dirty="0" err="1">
              <a:ea typeface="Calibri"/>
              <a:cs typeface="Calibri"/>
            </a:endParaRPr>
          </a:p>
          <a:p>
            <a:pPr>
              <a:defRPr sz="950">
                <a:solidFill>
                  <a:srgbClr val="94A3B8"/>
                </a:solidFill>
              </a:defRPr>
            </a:pPr>
            <a:r>
              <a:rPr sz="1200" dirty="0"/>
              <a:t>Her </a:t>
            </a:r>
            <a:r>
              <a:rPr sz="1200" dirty="0" err="1"/>
              <a:t>durakta</a:t>
            </a:r>
            <a:r>
              <a:rPr sz="1200" dirty="0"/>
              <a:t> </a:t>
            </a:r>
            <a:r>
              <a:rPr sz="1200" dirty="0" err="1"/>
              <a:t>paketin</a:t>
            </a:r>
            <a:r>
              <a:rPr sz="1200" dirty="0"/>
              <a:t> </a:t>
            </a:r>
            <a:r>
              <a:rPr sz="1200" dirty="0" err="1"/>
              <a:t>teslim</a:t>
            </a:r>
            <a:r>
              <a:rPr sz="1200" dirty="0"/>
              <a:t> </a:t>
            </a:r>
            <a:r>
              <a:rPr sz="1200" dirty="0" err="1"/>
              <a:t>edilmesi</a:t>
            </a:r>
            <a:r>
              <a:rPr sz="1200" dirty="0"/>
              <a:t>, </a:t>
            </a:r>
            <a:r>
              <a:rPr sz="1200" dirty="0" err="1"/>
              <a:t>imza</a:t>
            </a:r>
            <a:r>
              <a:rPr sz="1200" dirty="0"/>
              <a:t> </a:t>
            </a:r>
            <a:r>
              <a:rPr sz="1200" dirty="0" err="1"/>
              <a:t>alınması</a:t>
            </a:r>
            <a:r>
              <a:rPr sz="1200" dirty="0"/>
              <a:t> </a:t>
            </a:r>
            <a:r>
              <a:rPr sz="1200" dirty="0" err="1"/>
              <a:t>ve</a:t>
            </a:r>
            <a:r>
              <a:rPr sz="1200" dirty="0"/>
              <a:t> kat </a:t>
            </a:r>
            <a:r>
              <a:rPr sz="1200" dirty="0" err="1"/>
              <a:t>çıkılması</a:t>
            </a:r>
            <a:r>
              <a:rPr sz="1200" dirty="0"/>
              <a:t> </a:t>
            </a:r>
            <a:r>
              <a:rPr sz="1200" dirty="0" err="1"/>
              <a:t>için</a:t>
            </a:r>
            <a:r>
              <a:rPr sz="1200" dirty="0"/>
              <a:t> 5 </a:t>
            </a:r>
            <a:r>
              <a:rPr sz="1200" dirty="0" err="1"/>
              <a:t>dakika</a:t>
            </a:r>
            <a:r>
              <a:rPr sz="1200" dirty="0"/>
              <a:t> </a:t>
            </a:r>
            <a:r>
              <a:rPr sz="1200" dirty="0" err="1"/>
              <a:t>sabit</a:t>
            </a:r>
            <a:r>
              <a:rPr sz="1200" dirty="0"/>
              <a:t> </a:t>
            </a:r>
            <a:r>
              <a:rPr sz="1200" dirty="0" err="1"/>
              <a:t>servis</a:t>
            </a:r>
            <a:r>
              <a:rPr sz="1200" dirty="0"/>
              <a:t> </a:t>
            </a:r>
            <a:r>
              <a:rPr sz="1200" dirty="0" err="1"/>
              <a:t>süresi</a:t>
            </a:r>
            <a:r>
              <a:rPr sz="1200" dirty="0"/>
              <a:t> </a:t>
            </a:r>
            <a:r>
              <a:rPr sz="1200" dirty="0" err="1"/>
              <a:t>eklenir</a:t>
            </a:r>
            <a:r>
              <a:rPr sz="1200" dirty="0"/>
              <a:t>. Böylece </a:t>
            </a:r>
            <a:r>
              <a:rPr sz="1200" dirty="0" err="1"/>
              <a:t>kağıt</a:t>
            </a:r>
            <a:r>
              <a:rPr sz="1200" dirty="0"/>
              <a:t> </a:t>
            </a:r>
            <a:r>
              <a:rPr sz="1200" dirty="0" err="1"/>
              <a:t>üzerindeki</a:t>
            </a:r>
            <a:r>
              <a:rPr sz="1200" dirty="0"/>
              <a:t> </a:t>
            </a:r>
            <a:r>
              <a:rPr sz="1200" dirty="0" err="1"/>
              <a:t>süreler</a:t>
            </a:r>
            <a:r>
              <a:rPr sz="1200" dirty="0"/>
              <a:t> </a:t>
            </a:r>
            <a:r>
              <a:rPr sz="1200" dirty="0" err="1"/>
              <a:t>ile</a:t>
            </a:r>
            <a:r>
              <a:rPr sz="1200" dirty="0"/>
              <a:t> </a:t>
            </a:r>
            <a:r>
              <a:rPr sz="1200" dirty="0" err="1"/>
              <a:t>sahadaki</a:t>
            </a:r>
            <a:r>
              <a:rPr sz="1200" dirty="0"/>
              <a:t> </a:t>
            </a:r>
            <a:r>
              <a:rPr sz="1200" dirty="0" err="1"/>
              <a:t>gerçek</a:t>
            </a:r>
            <a:r>
              <a:rPr sz="1200" dirty="0"/>
              <a:t> </a:t>
            </a:r>
            <a:r>
              <a:rPr sz="1200" dirty="0" err="1"/>
              <a:t>teslim</a:t>
            </a:r>
            <a:r>
              <a:rPr sz="1200" dirty="0"/>
              <a:t> </a:t>
            </a:r>
            <a:r>
              <a:rPr sz="1200" dirty="0" err="1"/>
              <a:t>saatleri</a:t>
            </a:r>
            <a:r>
              <a:rPr sz="1200" dirty="0"/>
              <a:t> </a:t>
            </a:r>
            <a:r>
              <a:rPr sz="1200" dirty="0" err="1"/>
              <a:t>birebir</a:t>
            </a:r>
            <a:r>
              <a:rPr sz="1200" dirty="0"/>
              <a:t> </a:t>
            </a:r>
            <a:r>
              <a:rPr sz="1200" dirty="0" err="1"/>
              <a:t>örtüşür</a:t>
            </a:r>
            <a:r>
              <a:rPr sz="1200" dirty="0"/>
              <a:t>.</a:t>
            </a:r>
            <a:endParaRPr sz="1200" dirty="0">
              <a:ea typeface="Calibri"/>
              <a:cs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120640" cy="2286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1250" b="1">
                <a:solidFill>
                  <a:srgbClr val="F43F5E"/>
                </a:solidFill>
              </a:defRPr>
            </a:pPr>
            <a:r>
              <a:rPr sz="1200" dirty="0"/>
              <a:t>🚨 3. </a:t>
            </a:r>
            <a:r>
              <a:rPr sz="1200" dirty="0" err="1"/>
              <a:t>Kademeli</a:t>
            </a:r>
            <a:r>
              <a:rPr sz="1200" dirty="0"/>
              <a:t> Soft SLA &amp; </a:t>
            </a:r>
            <a:r>
              <a:rPr sz="1200" dirty="0" err="1"/>
              <a:t>Gecikme</a:t>
            </a:r>
            <a:r>
              <a:rPr sz="1200" dirty="0"/>
              <a:t> </a:t>
            </a:r>
            <a:r>
              <a:rPr sz="1200" dirty="0" err="1"/>
              <a:t>Cezaları</a:t>
            </a:r>
            <a:endParaRPr lang="en-US" sz="1200" dirty="0" err="1">
              <a:ea typeface="Calibri"/>
              <a:cs typeface="Calibri"/>
            </a:endParaRPr>
          </a:p>
          <a:p>
            <a:pPr>
              <a:defRPr sz="950">
                <a:solidFill>
                  <a:srgbClr val="94A3B8"/>
                </a:solidFill>
              </a:defRPr>
            </a:pPr>
            <a:r>
              <a:rPr sz="1200" dirty="0"/>
              <a:t>EXPRESS </a:t>
            </a:r>
            <a:r>
              <a:rPr sz="1200" dirty="0" err="1"/>
              <a:t>kargolarda</a:t>
            </a:r>
            <a:r>
              <a:rPr sz="1200" dirty="0"/>
              <a:t> </a:t>
            </a:r>
            <a:r>
              <a:rPr sz="1200" dirty="0" err="1"/>
              <a:t>gecikme</a:t>
            </a:r>
            <a:r>
              <a:rPr sz="1200" dirty="0"/>
              <a:t> </a:t>
            </a:r>
            <a:r>
              <a:rPr sz="1200" dirty="0" err="1"/>
              <a:t>dakikası</a:t>
            </a:r>
            <a:r>
              <a:rPr sz="1200" dirty="0"/>
              <a:t> </a:t>
            </a:r>
            <a:r>
              <a:rPr sz="1200" dirty="0" err="1"/>
              <a:t>başına</a:t>
            </a:r>
            <a:r>
              <a:rPr sz="1200" dirty="0"/>
              <a:t> 500 </a:t>
            </a:r>
            <a:r>
              <a:rPr sz="1200" dirty="0" err="1"/>
              <a:t>ceza</a:t>
            </a:r>
            <a:r>
              <a:rPr sz="1200" dirty="0"/>
              <a:t> </a:t>
            </a:r>
            <a:r>
              <a:rPr sz="1200" dirty="0" err="1"/>
              <a:t>puanı</a:t>
            </a:r>
            <a:r>
              <a:rPr sz="1200" dirty="0"/>
              <a:t>, STANDART </a:t>
            </a:r>
            <a:r>
              <a:rPr sz="1200" dirty="0" err="1"/>
              <a:t>kargolarda</a:t>
            </a:r>
            <a:r>
              <a:rPr sz="1200" dirty="0"/>
              <a:t> 50 </a:t>
            </a:r>
            <a:r>
              <a:rPr sz="1200" dirty="0" err="1"/>
              <a:t>ceza</a:t>
            </a:r>
            <a:r>
              <a:rPr sz="1200" dirty="0"/>
              <a:t> </a:t>
            </a:r>
            <a:r>
              <a:rPr sz="1200" dirty="0" err="1"/>
              <a:t>puanı</a:t>
            </a:r>
            <a:r>
              <a:rPr sz="1200" dirty="0"/>
              <a:t> </a:t>
            </a:r>
            <a:r>
              <a:rPr sz="1200" dirty="0" err="1"/>
              <a:t>atanır</a:t>
            </a:r>
            <a:r>
              <a:rPr sz="1200" dirty="0"/>
              <a:t>. </a:t>
            </a:r>
            <a:r>
              <a:rPr sz="1200" dirty="0" err="1"/>
              <a:t>Çözücü</a:t>
            </a:r>
            <a:r>
              <a:rPr sz="1200" dirty="0"/>
              <a:t> </a:t>
            </a:r>
            <a:r>
              <a:rPr sz="1200" dirty="0" err="1"/>
              <a:t>matematiksel</a:t>
            </a:r>
            <a:r>
              <a:rPr sz="1200" dirty="0"/>
              <a:t> </a:t>
            </a:r>
            <a:r>
              <a:rPr sz="1200" dirty="0" err="1"/>
              <a:t>olarak</a:t>
            </a:r>
            <a:r>
              <a:rPr sz="1200" dirty="0"/>
              <a:t> express </a:t>
            </a:r>
            <a:r>
              <a:rPr sz="1200" dirty="0" err="1"/>
              <a:t>paketleri</a:t>
            </a:r>
            <a:r>
              <a:rPr sz="1200" dirty="0"/>
              <a:t> ilk </a:t>
            </a:r>
            <a:r>
              <a:rPr sz="1200" dirty="0" err="1"/>
              <a:t>sıralara</a:t>
            </a:r>
            <a:r>
              <a:rPr sz="1200" dirty="0"/>
              <a:t> </a:t>
            </a:r>
            <a:r>
              <a:rPr sz="1200" dirty="0" err="1"/>
              <a:t>yerleştirerek</a:t>
            </a:r>
            <a:r>
              <a:rPr sz="1200" dirty="0"/>
              <a:t> SLA </a:t>
            </a:r>
            <a:r>
              <a:rPr sz="1200" dirty="0" err="1"/>
              <a:t>uyumunu</a:t>
            </a:r>
            <a:r>
              <a:rPr sz="1200" dirty="0"/>
              <a:t> %98'e </a:t>
            </a:r>
            <a:r>
              <a:rPr sz="1200" dirty="0" err="1"/>
              <a:t>çıkarır</a:t>
            </a:r>
            <a:r>
              <a:rPr sz="1200" dirty="0"/>
              <a:t>.</a:t>
            </a:r>
            <a:endParaRPr sz="1200" dirty="0">
              <a:ea typeface="Calibri"/>
              <a:cs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0" y="3840480"/>
            <a:ext cx="5120640" cy="2286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1250" b="1">
                <a:solidFill>
                  <a:srgbClr val="F59E0B"/>
                </a:solidFill>
              </a:defRPr>
            </a:pPr>
            <a:r>
              <a:rPr sz="1200" dirty="0"/>
              <a:t>📦 4. Backhaul (Teslimat + </a:t>
            </a:r>
            <a:r>
              <a:rPr sz="1200" dirty="0" err="1"/>
              <a:t>İade</a:t>
            </a:r>
            <a:r>
              <a:rPr sz="1200" dirty="0"/>
              <a:t>/</a:t>
            </a:r>
            <a:r>
              <a:rPr sz="1200" dirty="0" err="1"/>
              <a:t>Satıcı</a:t>
            </a:r>
            <a:r>
              <a:rPr sz="1200" dirty="0"/>
              <a:t> </a:t>
            </a:r>
            <a:r>
              <a:rPr sz="1200" dirty="0" err="1"/>
              <a:t>Toplama</a:t>
            </a:r>
            <a:r>
              <a:rPr sz="1200" dirty="0"/>
              <a:t>)</a:t>
            </a:r>
            <a:endParaRPr lang="en-US" sz="1200" dirty="0">
              <a:ea typeface="Calibri"/>
              <a:cs typeface="Calibri"/>
            </a:endParaRPr>
          </a:p>
          <a:p>
            <a:pPr>
              <a:defRPr sz="950">
                <a:solidFill>
                  <a:srgbClr val="94A3B8"/>
                </a:solidFill>
              </a:defRPr>
            </a:pPr>
            <a:r>
              <a:rPr sz="1200" dirty="0" err="1"/>
              <a:t>Aynı</a:t>
            </a:r>
            <a:r>
              <a:rPr sz="1200" dirty="0"/>
              <a:t> </a:t>
            </a:r>
            <a:r>
              <a:rPr sz="1200" dirty="0" err="1"/>
              <a:t>rotada</a:t>
            </a:r>
            <a:r>
              <a:rPr sz="1200" dirty="0"/>
              <a:t> </a:t>
            </a:r>
            <a:r>
              <a:rPr sz="1200" dirty="0" err="1"/>
              <a:t>gidişte</a:t>
            </a:r>
            <a:r>
              <a:rPr sz="1200" dirty="0"/>
              <a:t> </a:t>
            </a:r>
            <a:r>
              <a:rPr sz="1200" dirty="0" err="1"/>
              <a:t>teslimatlar</a:t>
            </a:r>
            <a:r>
              <a:rPr sz="1200" dirty="0"/>
              <a:t> </a:t>
            </a:r>
            <a:r>
              <a:rPr sz="1200" dirty="0" err="1"/>
              <a:t>bırakılırken</a:t>
            </a:r>
            <a:r>
              <a:rPr sz="1200" dirty="0"/>
              <a:t>, </a:t>
            </a:r>
            <a:r>
              <a:rPr sz="1200" dirty="0" err="1"/>
              <a:t>dönüş</a:t>
            </a:r>
            <a:r>
              <a:rPr sz="1200" dirty="0"/>
              <a:t> </a:t>
            </a:r>
            <a:r>
              <a:rPr sz="1200" dirty="0" err="1"/>
              <a:t>bacağında</a:t>
            </a:r>
            <a:r>
              <a:rPr sz="1200" dirty="0"/>
              <a:t> </a:t>
            </a:r>
            <a:r>
              <a:rPr sz="1200" dirty="0" err="1"/>
              <a:t>satıcı</a:t>
            </a:r>
            <a:r>
              <a:rPr sz="1200" dirty="0"/>
              <a:t> </a:t>
            </a:r>
            <a:r>
              <a:rPr sz="1200" dirty="0" err="1"/>
              <a:t>iadeleri</a:t>
            </a:r>
            <a:r>
              <a:rPr sz="1200" dirty="0"/>
              <a:t> </a:t>
            </a:r>
            <a:r>
              <a:rPr sz="1200" dirty="0" err="1"/>
              <a:t>toplanır</a:t>
            </a:r>
            <a:r>
              <a:rPr sz="1200" dirty="0"/>
              <a:t>. Ters </a:t>
            </a:r>
            <a:r>
              <a:rPr sz="1200" dirty="0" err="1"/>
              <a:t>işaretli</a:t>
            </a:r>
            <a:r>
              <a:rPr sz="1200" dirty="0"/>
              <a:t> </a:t>
            </a:r>
            <a:r>
              <a:rPr sz="1200" dirty="0" err="1"/>
              <a:t>talep</a:t>
            </a:r>
            <a:r>
              <a:rPr sz="1200" dirty="0"/>
              <a:t> </a:t>
            </a:r>
            <a:r>
              <a:rPr sz="1200" dirty="0" err="1"/>
              <a:t>mantığıyla</a:t>
            </a:r>
            <a:r>
              <a:rPr sz="1200" dirty="0"/>
              <a:t> </a:t>
            </a:r>
            <a:r>
              <a:rPr sz="1200" dirty="0" err="1"/>
              <a:t>aracın</a:t>
            </a:r>
            <a:r>
              <a:rPr sz="1200" dirty="0"/>
              <a:t> </a:t>
            </a:r>
            <a:r>
              <a:rPr sz="1200" dirty="0" err="1"/>
              <a:t>anlık</a:t>
            </a:r>
            <a:r>
              <a:rPr sz="1200" dirty="0"/>
              <a:t> </a:t>
            </a:r>
            <a:r>
              <a:rPr sz="1200" dirty="0" err="1"/>
              <a:t>yükü</a:t>
            </a:r>
            <a:r>
              <a:rPr sz="1200" dirty="0"/>
              <a:t> </a:t>
            </a:r>
            <a:r>
              <a:rPr sz="1200" dirty="0" err="1"/>
              <a:t>durak</a:t>
            </a:r>
            <a:r>
              <a:rPr sz="1200" dirty="0"/>
              <a:t> </a:t>
            </a:r>
            <a:r>
              <a:rPr sz="1200" dirty="0" err="1"/>
              <a:t>durak</a:t>
            </a:r>
            <a:r>
              <a:rPr sz="1200" dirty="0"/>
              <a:t> </a:t>
            </a:r>
            <a:r>
              <a:rPr sz="1200" dirty="0" err="1"/>
              <a:t>izlenir</a:t>
            </a:r>
            <a:r>
              <a:rPr sz="1200" dirty="0"/>
              <a:t>; </a:t>
            </a:r>
            <a:r>
              <a:rPr sz="1200" dirty="0" err="1"/>
              <a:t>hiçbir</a:t>
            </a:r>
            <a:r>
              <a:rPr sz="1200" dirty="0"/>
              <a:t> </a:t>
            </a:r>
            <a:r>
              <a:rPr sz="1200" dirty="0" err="1"/>
              <a:t>noktada</a:t>
            </a:r>
            <a:r>
              <a:rPr sz="1200" dirty="0"/>
              <a:t> </a:t>
            </a:r>
            <a:r>
              <a:rPr sz="1200" dirty="0" err="1"/>
              <a:t>kapasite</a:t>
            </a:r>
            <a:r>
              <a:rPr sz="1200" dirty="0"/>
              <a:t> </a:t>
            </a:r>
            <a:r>
              <a:rPr sz="1200" dirty="0" err="1"/>
              <a:t>taşması</a:t>
            </a:r>
            <a:r>
              <a:rPr sz="1200" dirty="0"/>
              <a:t> </a:t>
            </a:r>
            <a:r>
              <a:rPr sz="1200" dirty="0" err="1"/>
              <a:t>yaşanmaz</a:t>
            </a:r>
            <a:r>
              <a:rPr dirty="0"/>
              <a:t>.</a:t>
            </a:r>
            <a:endParaRPr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07 / SENARYO YÖNETIMI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Farklı Hedefler İçin 3 Ayrı Optimizasyon Senaryosu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1887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 b="1">
                <a:solidFill>
                  <a:srgbClr val="10B981"/>
                </a:solidFill>
                <a:latin typeface="Segoe UI"/>
              </a:defRPr>
            </a:pPr>
            <a:r>
              <a:t>08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383280" cy="4846320"/>
          </a:xfrm>
          <a:prstGeom prst="roundRect">
            <a:avLst/>
          </a:prstGeom>
          <a:solidFill>
            <a:srgbClr val="1C2541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1350" b="1">
                <a:solidFill>
                  <a:srgbClr val="3B82F6"/>
                </a:solidFill>
              </a:defRPr>
            </a:pPr>
            <a:r>
              <a:rPr dirty="0"/>
              <a:t>📏 1. MESAFE SENARYOSU</a:t>
            </a:r>
            <a:br>
              <a:rPr dirty="0"/>
            </a:br>
            <a:r>
              <a:rPr dirty="0"/>
              <a:t>(Minimum </a:t>
            </a:r>
            <a:r>
              <a:rPr dirty="0" err="1"/>
              <a:t>Kilometre</a:t>
            </a:r>
            <a:r>
              <a:rPr dirty="0"/>
              <a:t>)</a:t>
            </a:r>
            <a:br>
              <a:rPr dirty="0"/>
            </a:br>
            <a:endParaRPr lang="en-US" sz="1400">
              <a:ea typeface="Calibri"/>
              <a:cs typeface="Calibri"/>
            </a:endParaRPr>
          </a:p>
          <a:p>
            <a:pPr>
              <a:defRPr sz="900">
                <a:solidFill>
                  <a:srgbClr val="E2E8F0"/>
                </a:solidFill>
              </a:defRPr>
            </a:pPr>
            <a:r>
              <a:rPr sz="1400" dirty="0"/>
              <a:t>• Temel </a:t>
            </a:r>
            <a:r>
              <a:rPr sz="1400" dirty="0" err="1"/>
              <a:t>Hedef</a:t>
            </a:r>
            <a:r>
              <a:rPr sz="1400" dirty="0"/>
              <a:t>: Filo </a:t>
            </a:r>
            <a:r>
              <a:rPr sz="1400" dirty="0" err="1"/>
              <a:t>toplam</a:t>
            </a:r>
            <a:r>
              <a:rPr sz="1400" dirty="0"/>
              <a:t> kat </a:t>
            </a:r>
            <a:r>
              <a:rPr sz="1400" dirty="0" err="1"/>
              <a:t>edilen</a:t>
            </a:r>
            <a:r>
              <a:rPr sz="1400" dirty="0"/>
              <a:t> </a:t>
            </a:r>
            <a:r>
              <a:rPr sz="1400" dirty="0" err="1"/>
              <a:t>kilometresini</a:t>
            </a:r>
            <a:r>
              <a:rPr sz="1400" dirty="0"/>
              <a:t> minimize </a:t>
            </a:r>
            <a:r>
              <a:rPr sz="1400" dirty="0" err="1"/>
              <a:t>etmek</a:t>
            </a:r>
            <a:r>
              <a:rPr sz="1400" dirty="0"/>
              <a:t>.</a:t>
            </a:r>
            <a:br>
              <a:rPr sz="1400" dirty="0"/>
            </a:br>
            <a:endParaRPr sz="1400">
              <a:ea typeface="Calibri"/>
              <a:cs typeface="Calibri"/>
            </a:endParaRPr>
          </a:p>
          <a:p>
            <a:pPr>
              <a:defRPr sz="900">
                <a:solidFill>
                  <a:srgbClr val="E2E8F0"/>
                </a:solidFill>
              </a:defRPr>
            </a:pPr>
            <a:r>
              <a:rPr sz="1400" dirty="0"/>
              <a:t>• Arama </a:t>
            </a:r>
            <a:r>
              <a:rPr sz="1400" dirty="0" err="1"/>
              <a:t>Stratejisi</a:t>
            </a:r>
            <a:r>
              <a:rPr sz="1400" dirty="0"/>
              <a:t>: Guided Local Search </a:t>
            </a:r>
            <a:r>
              <a:rPr sz="1400" dirty="0" err="1"/>
              <a:t>ile</a:t>
            </a:r>
            <a:r>
              <a:rPr sz="1400" dirty="0"/>
              <a:t> </a:t>
            </a:r>
            <a:r>
              <a:rPr sz="1400" dirty="0" err="1"/>
              <a:t>hızlı</a:t>
            </a:r>
            <a:r>
              <a:rPr sz="1400" dirty="0"/>
              <a:t> </a:t>
            </a:r>
            <a:r>
              <a:rPr sz="1400" dirty="0" err="1"/>
              <a:t>ve</a:t>
            </a:r>
            <a:r>
              <a:rPr sz="1400" dirty="0"/>
              <a:t> global </a:t>
            </a:r>
            <a:r>
              <a:rPr sz="1400" dirty="0" err="1"/>
              <a:t>mesafe</a:t>
            </a:r>
            <a:r>
              <a:rPr sz="1400" dirty="0"/>
              <a:t> </a:t>
            </a:r>
            <a:r>
              <a:rPr sz="1400" dirty="0" err="1"/>
              <a:t>optimizasyonu</a:t>
            </a:r>
            <a:r>
              <a:rPr sz="1400" dirty="0"/>
              <a:t>.</a:t>
            </a:r>
            <a:br>
              <a:rPr sz="1400" dirty="0"/>
            </a:br>
            <a:endParaRPr sz="1400">
              <a:ea typeface="Calibri"/>
              <a:cs typeface="Calibri"/>
            </a:endParaRPr>
          </a:p>
          <a:p>
            <a:pPr>
              <a:defRPr sz="900">
                <a:solidFill>
                  <a:srgbClr val="E2E8F0"/>
                </a:solidFill>
              </a:defRPr>
            </a:pPr>
            <a:r>
              <a:rPr sz="1400" dirty="0"/>
              <a:t>• Ne Zaman Seçilir? </a:t>
            </a:r>
            <a:r>
              <a:rPr sz="1400" dirty="0" err="1"/>
              <a:t>Akaryakıt</a:t>
            </a:r>
            <a:r>
              <a:rPr sz="1400" dirty="0"/>
              <a:t> </a:t>
            </a:r>
            <a:r>
              <a:rPr sz="1400" dirty="0" err="1"/>
              <a:t>tüketimini</a:t>
            </a:r>
            <a:r>
              <a:rPr sz="1400" dirty="0"/>
              <a:t> </a:t>
            </a:r>
            <a:r>
              <a:rPr sz="1400" dirty="0" err="1"/>
              <a:t>ve</a:t>
            </a:r>
            <a:r>
              <a:rPr sz="1400" dirty="0"/>
              <a:t> </a:t>
            </a:r>
            <a:r>
              <a:rPr sz="1400" dirty="0" err="1"/>
              <a:t>karbon</a:t>
            </a:r>
            <a:r>
              <a:rPr sz="1400" dirty="0"/>
              <a:t> </a:t>
            </a:r>
            <a:r>
              <a:rPr sz="1400" dirty="0" err="1"/>
              <a:t>ayak</a:t>
            </a:r>
            <a:r>
              <a:rPr sz="1400" dirty="0"/>
              <a:t> </a:t>
            </a:r>
            <a:r>
              <a:rPr sz="1400" dirty="0" err="1"/>
              <a:t>izini</a:t>
            </a:r>
            <a:r>
              <a:rPr sz="1400" dirty="0"/>
              <a:t> </a:t>
            </a:r>
            <a:r>
              <a:rPr sz="1400" dirty="0" err="1"/>
              <a:t>en</a:t>
            </a:r>
            <a:r>
              <a:rPr sz="1400" dirty="0"/>
              <a:t> </a:t>
            </a:r>
            <a:r>
              <a:rPr sz="1400" dirty="0" err="1"/>
              <a:t>aza</a:t>
            </a:r>
            <a:r>
              <a:rPr sz="1400" dirty="0"/>
              <a:t> </a:t>
            </a:r>
            <a:r>
              <a:rPr sz="1400" dirty="0" err="1"/>
              <a:t>indirmek</a:t>
            </a:r>
            <a:r>
              <a:rPr sz="1400" dirty="0"/>
              <a:t> </a:t>
            </a:r>
            <a:r>
              <a:rPr sz="1400" dirty="0" err="1"/>
              <a:t>istendiğinde</a:t>
            </a:r>
            <a:r>
              <a:rPr sz="1400" dirty="0"/>
              <a:t>.</a:t>
            </a:r>
            <a:br>
              <a:rPr sz="1400" dirty="0"/>
            </a:br>
            <a:endParaRPr sz="1400">
              <a:ea typeface="Calibri"/>
              <a:cs typeface="Calibri"/>
            </a:endParaRPr>
          </a:p>
          <a:p>
            <a:pPr>
              <a:defRPr sz="900">
                <a:solidFill>
                  <a:srgbClr val="E2E8F0"/>
                </a:solidFill>
              </a:defRPr>
            </a:pPr>
            <a:r>
              <a:rPr sz="1400" dirty="0"/>
              <a:t>• </a:t>
            </a:r>
            <a:r>
              <a:rPr sz="1400" err="1"/>
              <a:t>Öne</a:t>
            </a:r>
            <a:r>
              <a:rPr sz="1400" dirty="0"/>
              <a:t> </a:t>
            </a:r>
            <a:r>
              <a:rPr sz="1400" err="1"/>
              <a:t>Çıkan</a:t>
            </a:r>
            <a:r>
              <a:rPr sz="1400" dirty="0"/>
              <a:t> </a:t>
            </a:r>
            <a:r>
              <a:rPr sz="1400" err="1"/>
              <a:t>Sonuç</a:t>
            </a:r>
            <a:r>
              <a:rPr sz="1400" dirty="0"/>
              <a:t>: En </a:t>
            </a:r>
            <a:r>
              <a:rPr sz="1400" err="1"/>
              <a:t>kompakt</a:t>
            </a:r>
            <a:r>
              <a:rPr sz="1400" dirty="0"/>
              <a:t>, </a:t>
            </a:r>
            <a:r>
              <a:rPr sz="1400" err="1"/>
              <a:t>en</a:t>
            </a:r>
            <a:r>
              <a:rPr sz="1400" dirty="0"/>
              <a:t> </a:t>
            </a:r>
            <a:r>
              <a:rPr sz="1400" err="1"/>
              <a:t>kısa</a:t>
            </a:r>
            <a:r>
              <a:rPr sz="1400" dirty="0"/>
              <a:t> </a:t>
            </a:r>
            <a:r>
              <a:rPr sz="1400" err="1"/>
              <a:t>rota</a:t>
            </a:r>
            <a:r>
              <a:rPr sz="1400" dirty="0"/>
              <a:t> </a:t>
            </a:r>
            <a:r>
              <a:rPr sz="1400" err="1"/>
              <a:t>geometrisi</a:t>
            </a:r>
            <a:r>
              <a:rPr sz="1400" dirty="0"/>
              <a:t>.</a:t>
            </a:r>
            <a:br>
              <a:rPr dirty="0"/>
            </a:b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0" y="1280160"/>
            <a:ext cx="3383280" cy="4846320"/>
          </a:xfrm>
          <a:prstGeom prst="roundRect">
            <a:avLst/>
          </a:prstGeom>
          <a:solidFill>
            <a:srgbClr val="1C2541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1350" b="1">
                <a:solidFill>
                  <a:srgbClr val="A855F7"/>
                </a:solidFill>
              </a:defRPr>
            </a:pPr>
            <a:r>
              <a:rPr dirty="0"/>
              <a:t>⏱️ 2. SÜRE SENARYOSU</a:t>
            </a:r>
            <a:br>
              <a:rPr dirty="0"/>
            </a:br>
            <a:r>
              <a:rPr dirty="0"/>
              <a:t>(</a:t>
            </a:r>
            <a:r>
              <a:rPr dirty="0" err="1"/>
              <a:t>Hızlı</a:t>
            </a:r>
            <a:r>
              <a:rPr dirty="0"/>
              <a:t> Teslimat &amp; </a:t>
            </a:r>
            <a:r>
              <a:rPr dirty="0" err="1"/>
              <a:t>Maksimum</a:t>
            </a:r>
            <a:r>
              <a:rPr dirty="0"/>
              <a:t> SLA)</a:t>
            </a:r>
            <a:br>
              <a:rPr dirty="0"/>
            </a:br>
            <a:endParaRPr/>
          </a:p>
          <a:p>
            <a:pPr>
              <a:defRPr sz="900">
                <a:solidFill>
                  <a:srgbClr val="E2E8F0"/>
                </a:solidFill>
              </a:defRPr>
            </a:pPr>
            <a:r>
              <a:rPr sz="1400" dirty="0"/>
              <a:t>• Temel </a:t>
            </a:r>
            <a:r>
              <a:rPr sz="1400" dirty="0" err="1"/>
              <a:t>Hedef</a:t>
            </a:r>
            <a:r>
              <a:rPr sz="1400" dirty="0"/>
              <a:t>: </a:t>
            </a:r>
            <a:r>
              <a:rPr sz="1400" dirty="0" err="1"/>
              <a:t>Tüm</a:t>
            </a:r>
            <a:r>
              <a:rPr sz="1400" dirty="0"/>
              <a:t> </a:t>
            </a:r>
            <a:r>
              <a:rPr sz="1400" dirty="0" err="1"/>
              <a:t>dağıtım</a:t>
            </a:r>
            <a:r>
              <a:rPr sz="1400" dirty="0"/>
              <a:t> </a:t>
            </a:r>
            <a:r>
              <a:rPr sz="1400" dirty="0" err="1"/>
              <a:t>operasyonunu</a:t>
            </a:r>
            <a:r>
              <a:rPr sz="1400" dirty="0"/>
              <a:t> </a:t>
            </a:r>
            <a:r>
              <a:rPr sz="1400" dirty="0" err="1"/>
              <a:t>en</a:t>
            </a:r>
            <a:r>
              <a:rPr sz="1400" dirty="0"/>
              <a:t> </a:t>
            </a:r>
            <a:r>
              <a:rPr sz="1400" dirty="0" err="1"/>
              <a:t>kısa</a:t>
            </a:r>
            <a:r>
              <a:rPr sz="1400" dirty="0"/>
              <a:t> </a:t>
            </a:r>
            <a:r>
              <a:rPr sz="1400" dirty="0" err="1"/>
              <a:t>sürede</a:t>
            </a:r>
            <a:r>
              <a:rPr sz="1400" dirty="0"/>
              <a:t> </a:t>
            </a:r>
            <a:r>
              <a:rPr sz="1400" dirty="0" err="1"/>
              <a:t>tamamlamak</a:t>
            </a:r>
            <a:r>
              <a:rPr sz="1400" dirty="0"/>
              <a:t>.</a:t>
            </a:r>
            <a:br>
              <a:rPr sz="1400" dirty="0"/>
            </a:br>
            <a:endParaRPr sz="1400">
              <a:ea typeface="Calibri"/>
              <a:cs typeface="Calibri"/>
            </a:endParaRPr>
          </a:p>
          <a:p>
            <a:pPr>
              <a:defRPr sz="900">
                <a:solidFill>
                  <a:srgbClr val="E2E8F0"/>
                </a:solidFill>
              </a:defRPr>
            </a:pPr>
            <a:r>
              <a:rPr sz="1400" dirty="0"/>
              <a:t>• Arama </a:t>
            </a:r>
            <a:r>
              <a:rPr sz="1400" dirty="0" err="1"/>
              <a:t>Stratejisi</a:t>
            </a:r>
            <a:r>
              <a:rPr sz="1400" dirty="0"/>
              <a:t>: Guided Local Search + </a:t>
            </a:r>
            <a:r>
              <a:rPr sz="1400" dirty="0" err="1"/>
              <a:t>Gecikme</a:t>
            </a:r>
            <a:r>
              <a:rPr sz="1400" dirty="0"/>
              <a:t> </a:t>
            </a:r>
            <a:r>
              <a:rPr sz="1400" dirty="0" err="1"/>
              <a:t>ceza</a:t>
            </a:r>
            <a:r>
              <a:rPr sz="1400" dirty="0"/>
              <a:t> </a:t>
            </a:r>
            <a:r>
              <a:rPr sz="1400" dirty="0" err="1"/>
              <a:t>minimizasyonu</a:t>
            </a:r>
            <a:r>
              <a:rPr sz="1400" dirty="0"/>
              <a:t>.</a:t>
            </a:r>
            <a:br>
              <a:rPr sz="1400" dirty="0"/>
            </a:br>
            <a:endParaRPr sz="1400">
              <a:ea typeface="Calibri"/>
              <a:cs typeface="Calibri"/>
            </a:endParaRPr>
          </a:p>
          <a:p>
            <a:pPr>
              <a:defRPr sz="900">
                <a:solidFill>
                  <a:srgbClr val="E2E8F0"/>
                </a:solidFill>
              </a:defRPr>
            </a:pPr>
            <a:r>
              <a:rPr sz="1400" dirty="0"/>
              <a:t>• Ne Zaman Seçilir? Express </a:t>
            </a:r>
            <a:r>
              <a:rPr sz="1400" dirty="0" err="1"/>
              <a:t>ve</a:t>
            </a:r>
            <a:r>
              <a:rPr sz="1400" dirty="0"/>
              <a:t> </a:t>
            </a:r>
            <a:r>
              <a:rPr sz="1400" dirty="0" err="1"/>
              <a:t>randevulu</a:t>
            </a:r>
            <a:r>
              <a:rPr sz="1400" dirty="0"/>
              <a:t> </a:t>
            </a:r>
            <a:r>
              <a:rPr sz="1400" dirty="0" err="1"/>
              <a:t>paketlerin</a:t>
            </a:r>
            <a:r>
              <a:rPr sz="1400" dirty="0"/>
              <a:t> </a:t>
            </a:r>
            <a:r>
              <a:rPr sz="1400" dirty="0" err="1"/>
              <a:t>yoğun</a:t>
            </a:r>
            <a:r>
              <a:rPr sz="1400" dirty="0"/>
              <a:t> </a:t>
            </a:r>
            <a:r>
              <a:rPr sz="1400" dirty="0" err="1"/>
              <a:t>olduğu</a:t>
            </a:r>
            <a:r>
              <a:rPr sz="1400" dirty="0"/>
              <a:t> </a:t>
            </a:r>
            <a:r>
              <a:rPr sz="1400" dirty="0" err="1"/>
              <a:t>günlerde</a:t>
            </a:r>
            <a:r>
              <a:rPr sz="1400" dirty="0"/>
              <a:t> </a:t>
            </a:r>
            <a:r>
              <a:rPr sz="1400" dirty="0" err="1"/>
              <a:t>müşteri</a:t>
            </a:r>
            <a:r>
              <a:rPr sz="1400" dirty="0"/>
              <a:t> </a:t>
            </a:r>
            <a:r>
              <a:rPr sz="1400" dirty="0" err="1"/>
              <a:t>memnuniyeti</a:t>
            </a:r>
            <a:r>
              <a:rPr sz="1400" dirty="0"/>
              <a:t> </a:t>
            </a:r>
            <a:r>
              <a:rPr sz="1400" dirty="0" err="1"/>
              <a:t>için</a:t>
            </a:r>
            <a:r>
              <a:rPr sz="1400" dirty="0"/>
              <a:t>.</a:t>
            </a:r>
            <a:br>
              <a:rPr sz="1400" dirty="0"/>
            </a:br>
            <a:endParaRPr sz="1400">
              <a:ea typeface="Calibri"/>
              <a:cs typeface="Calibri"/>
            </a:endParaRPr>
          </a:p>
          <a:p>
            <a:pPr>
              <a:defRPr sz="900">
                <a:solidFill>
                  <a:srgbClr val="E2E8F0"/>
                </a:solidFill>
              </a:defRPr>
            </a:pPr>
            <a:r>
              <a:rPr sz="1400" dirty="0"/>
              <a:t>• </a:t>
            </a:r>
            <a:r>
              <a:rPr sz="1400" dirty="0" err="1"/>
              <a:t>Öne</a:t>
            </a:r>
            <a:r>
              <a:rPr sz="1400" dirty="0"/>
              <a:t> </a:t>
            </a:r>
            <a:r>
              <a:rPr sz="1400" dirty="0" err="1"/>
              <a:t>Çıkan</a:t>
            </a:r>
            <a:r>
              <a:rPr sz="1400" dirty="0"/>
              <a:t> </a:t>
            </a:r>
            <a:r>
              <a:rPr sz="1400" dirty="0" err="1"/>
              <a:t>Sonuç</a:t>
            </a:r>
            <a:r>
              <a:rPr sz="1400" dirty="0"/>
              <a:t>: %98 </a:t>
            </a:r>
            <a:r>
              <a:rPr sz="1400" dirty="0" err="1"/>
              <a:t>zamanında</a:t>
            </a:r>
            <a:r>
              <a:rPr sz="1400" dirty="0"/>
              <a:t> </a:t>
            </a:r>
            <a:r>
              <a:rPr sz="1400" dirty="0" err="1"/>
              <a:t>teslimat</a:t>
            </a:r>
            <a:r>
              <a:rPr sz="1400" dirty="0"/>
              <a:t> </a:t>
            </a:r>
            <a:r>
              <a:rPr sz="1400" dirty="0" err="1"/>
              <a:t>oranı</a:t>
            </a:r>
            <a:r>
              <a:rPr sz="1400" dirty="0"/>
              <a:t>.</a:t>
            </a:r>
            <a:br>
              <a:rPr dirty="0"/>
            </a:b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46720" y="1280160"/>
            <a:ext cx="3383280" cy="4846320"/>
          </a:xfrm>
          <a:prstGeom prst="roundRect">
            <a:avLst/>
          </a:prstGeom>
          <a:solidFill>
            <a:srgbClr val="1C2541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1350" b="1">
                <a:solidFill>
                  <a:srgbClr val="10B981"/>
                </a:solidFill>
              </a:defRPr>
            </a:pPr>
            <a:r>
              <a:rPr dirty="0"/>
              <a:t>💰 3. MALİYET SENARYOSU</a:t>
            </a:r>
            <a:br>
              <a:rPr dirty="0"/>
            </a:br>
            <a:r>
              <a:rPr dirty="0"/>
              <a:t>(</a:t>
            </a:r>
            <a:r>
              <a:rPr dirty="0" err="1"/>
              <a:t>Maksimum</a:t>
            </a:r>
            <a:r>
              <a:rPr dirty="0"/>
              <a:t> </a:t>
            </a:r>
            <a:r>
              <a:rPr dirty="0" err="1"/>
              <a:t>Kârlılık</a:t>
            </a:r>
            <a:r>
              <a:rPr dirty="0"/>
              <a:t> - </a:t>
            </a:r>
            <a:r>
              <a:rPr dirty="0" err="1"/>
              <a:t>Önerilen</a:t>
            </a:r>
            <a:r>
              <a:rPr dirty="0"/>
              <a:t>)</a:t>
            </a:r>
            <a:br>
              <a:rPr dirty="0"/>
            </a:br>
            <a:endParaRPr/>
          </a:p>
          <a:p>
            <a:pPr>
              <a:defRPr sz="900">
                <a:solidFill>
                  <a:srgbClr val="E2E8F0"/>
                </a:solidFill>
              </a:defRPr>
            </a:pPr>
            <a:r>
              <a:rPr sz="1400" dirty="0"/>
              <a:t>• Temel </a:t>
            </a:r>
            <a:r>
              <a:rPr sz="1400" dirty="0" err="1"/>
              <a:t>Hedef</a:t>
            </a:r>
            <a:r>
              <a:rPr sz="1400" dirty="0"/>
              <a:t>: Toplam </a:t>
            </a:r>
            <a:r>
              <a:rPr sz="1400" dirty="0" err="1"/>
              <a:t>operasyonel</a:t>
            </a:r>
            <a:r>
              <a:rPr sz="1400" dirty="0"/>
              <a:t> </a:t>
            </a:r>
            <a:r>
              <a:rPr sz="1400" dirty="0" err="1"/>
              <a:t>maliyeti</a:t>
            </a:r>
            <a:r>
              <a:rPr sz="1400" dirty="0"/>
              <a:t> (TL) </a:t>
            </a:r>
            <a:r>
              <a:rPr sz="1400" dirty="0" err="1"/>
              <a:t>en</a:t>
            </a:r>
            <a:r>
              <a:rPr sz="1400" dirty="0"/>
              <a:t> </a:t>
            </a:r>
            <a:r>
              <a:rPr sz="1400" dirty="0" err="1"/>
              <a:t>aza</a:t>
            </a:r>
            <a:r>
              <a:rPr sz="1400" dirty="0"/>
              <a:t> </a:t>
            </a:r>
            <a:r>
              <a:rPr sz="1400" dirty="0" err="1"/>
              <a:t>indirmek</a:t>
            </a:r>
            <a:r>
              <a:rPr sz="1400" dirty="0"/>
              <a:t>.</a:t>
            </a:r>
            <a:br>
              <a:rPr sz="1400" dirty="0"/>
            </a:br>
            <a:endParaRPr sz="1400">
              <a:ea typeface="Calibri"/>
              <a:cs typeface="Calibri"/>
            </a:endParaRPr>
          </a:p>
          <a:p>
            <a:pPr>
              <a:defRPr sz="900">
                <a:solidFill>
                  <a:srgbClr val="E2E8F0"/>
                </a:solidFill>
              </a:defRPr>
            </a:pPr>
            <a:r>
              <a:rPr sz="1400" dirty="0"/>
              <a:t>• Arama </a:t>
            </a:r>
            <a:r>
              <a:rPr sz="1400" dirty="0" err="1"/>
              <a:t>Stratejisi</a:t>
            </a:r>
            <a:r>
              <a:rPr sz="1400" dirty="0"/>
              <a:t>: Tabu Search </a:t>
            </a:r>
            <a:r>
              <a:rPr sz="1400" dirty="0" err="1"/>
              <a:t>ile</a:t>
            </a:r>
            <a:r>
              <a:rPr sz="1400" dirty="0"/>
              <a:t> </a:t>
            </a:r>
            <a:r>
              <a:rPr sz="1400" dirty="0" err="1"/>
              <a:t>derinlemesine</a:t>
            </a:r>
            <a:r>
              <a:rPr sz="1400" dirty="0"/>
              <a:t> </a:t>
            </a:r>
            <a:r>
              <a:rPr sz="1400" dirty="0" err="1"/>
              <a:t>maliyet</a:t>
            </a:r>
            <a:r>
              <a:rPr sz="1400" dirty="0"/>
              <a:t> </a:t>
            </a:r>
            <a:r>
              <a:rPr sz="1400" dirty="0" err="1"/>
              <a:t>dengesi</a:t>
            </a:r>
            <a:r>
              <a:rPr sz="1400" dirty="0"/>
              <a:t> </a:t>
            </a:r>
            <a:r>
              <a:rPr sz="1400" dirty="0" err="1"/>
              <a:t>optimizasyonu</a:t>
            </a:r>
            <a:r>
              <a:rPr sz="1400" dirty="0"/>
              <a:t>.</a:t>
            </a:r>
            <a:br>
              <a:rPr sz="1400" dirty="0"/>
            </a:br>
            <a:endParaRPr sz="1400">
              <a:ea typeface="Calibri"/>
              <a:cs typeface="Calibri"/>
            </a:endParaRPr>
          </a:p>
          <a:p>
            <a:pPr>
              <a:defRPr sz="900">
                <a:solidFill>
                  <a:srgbClr val="E2E8F0"/>
                </a:solidFill>
              </a:defRPr>
            </a:pPr>
            <a:r>
              <a:rPr sz="1400" dirty="0"/>
              <a:t>• Ne Zaman Seçilir? Sabit </a:t>
            </a:r>
            <a:r>
              <a:rPr sz="1400" dirty="0" err="1"/>
              <a:t>araç</a:t>
            </a:r>
            <a:r>
              <a:rPr sz="1400" dirty="0"/>
              <a:t> </a:t>
            </a:r>
            <a:r>
              <a:rPr sz="1400" dirty="0" err="1"/>
              <a:t>çıkış</a:t>
            </a:r>
            <a:r>
              <a:rPr sz="1400" dirty="0"/>
              <a:t> </a:t>
            </a:r>
            <a:r>
              <a:rPr sz="1400" dirty="0" err="1"/>
              <a:t>bedelleri</a:t>
            </a:r>
            <a:r>
              <a:rPr sz="1400" dirty="0"/>
              <a:t> (600-1200 TL) </a:t>
            </a:r>
            <a:r>
              <a:rPr sz="1400" dirty="0" err="1"/>
              <a:t>ile</a:t>
            </a:r>
            <a:r>
              <a:rPr sz="1400" dirty="0"/>
              <a:t> km </a:t>
            </a:r>
            <a:r>
              <a:rPr sz="1400" dirty="0" err="1"/>
              <a:t>yakıt</a:t>
            </a:r>
            <a:r>
              <a:rPr sz="1400" dirty="0"/>
              <a:t> </a:t>
            </a:r>
            <a:r>
              <a:rPr sz="1400" dirty="0" err="1"/>
              <a:t>maliyetini</a:t>
            </a:r>
            <a:r>
              <a:rPr sz="1400" dirty="0"/>
              <a:t> </a:t>
            </a:r>
            <a:r>
              <a:rPr sz="1400" dirty="0" err="1"/>
              <a:t>dengelemek</a:t>
            </a:r>
            <a:r>
              <a:rPr sz="1400" dirty="0"/>
              <a:t> </a:t>
            </a:r>
            <a:r>
              <a:rPr sz="1400" dirty="0" err="1"/>
              <a:t>için</a:t>
            </a:r>
            <a:r>
              <a:rPr sz="1400" dirty="0"/>
              <a:t>.</a:t>
            </a:r>
            <a:br>
              <a:rPr sz="1400" dirty="0"/>
            </a:br>
            <a:endParaRPr sz="1400">
              <a:ea typeface="Calibri"/>
              <a:cs typeface="Calibri"/>
            </a:endParaRPr>
          </a:p>
          <a:p>
            <a:pPr>
              <a:defRPr sz="900">
                <a:solidFill>
                  <a:srgbClr val="E2E8F0"/>
                </a:solidFill>
              </a:defRPr>
            </a:pPr>
            <a:r>
              <a:rPr sz="1400" dirty="0"/>
              <a:t>• </a:t>
            </a:r>
            <a:r>
              <a:rPr sz="1400" dirty="0" err="1"/>
              <a:t>Öne</a:t>
            </a:r>
            <a:r>
              <a:rPr sz="1400" dirty="0"/>
              <a:t> </a:t>
            </a:r>
            <a:r>
              <a:rPr sz="1400" dirty="0" err="1"/>
              <a:t>Çıkan</a:t>
            </a:r>
            <a:r>
              <a:rPr sz="1400" dirty="0"/>
              <a:t> </a:t>
            </a:r>
            <a:r>
              <a:rPr sz="1400" dirty="0" err="1"/>
              <a:t>Sonuç</a:t>
            </a:r>
            <a:r>
              <a:rPr sz="1400" dirty="0"/>
              <a:t>: </a:t>
            </a:r>
            <a:r>
              <a:rPr sz="1400" dirty="0" err="1"/>
              <a:t>Şirkete</a:t>
            </a:r>
            <a:r>
              <a:rPr sz="1400" dirty="0"/>
              <a:t> </a:t>
            </a:r>
            <a:r>
              <a:rPr sz="1400" dirty="0" err="1"/>
              <a:t>en</a:t>
            </a:r>
            <a:r>
              <a:rPr sz="1400" dirty="0"/>
              <a:t> </a:t>
            </a:r>
            <a:r>
              <a:rPr sz="1400" dirty="0" err="1"/>
              <a:t>yüksek</a:t>
            </a:r>
            <a:r>
              <a:rPr sz="1400" dirty="0"/>
              <a:t> </a:t>
            </a:r>
            <a:r>
              <a:rPr sz="1400" dirty="0" err="1"/>
              <a:t>kârlılığı</a:t>
            </a:r>
            <a:r>
              <a:rPr sz="1400" dirty="0"/>
              <a:t> </a:t>
            </a:r>
            <a:r>
              <a:rPr sz="1400" dirty="0" err="1"/>
              <a:t>getiren</a:t>
            </a:r>
            <a:r>
              <a:rPr sz="1400" dirty="0"/>
              <a:t> filo </a:t>
            </a:r>
            <a:r>
              <a:rPr sz="1400" dirty="0" err="1"/>
              <a:t>dağılımı</a:t>
            </a:r>
            <a:r>
              <a:rPr sz="1400" dirty="0"/>
              <a:t>.</a:t>
            </a:r>
            <a:br>
              <a:rPr dirty="0"/>
            </a:b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08 / KPI ANALITIĞI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Gerçek Verilerle 3 Senaryonun Karşılaştırmalı Performans Matrisi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1887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 b="1">
                <a:solidFill>
                  <a:srgbClr val="10B981"/>
                </a:solidFill>
                <a:latin typeface="Segoe UI"/>
              </a:defRPr>
            </a:pPr>
            <a:r>
              <a:t>09 / 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7342355"/>
              </p:ext>
            </p:extLst>
          </p:nvPr>
        </p:nvGraphicFramePr>
        <p:xfrm>
          <a:off x="731520" y="1280160"/>
          <a:ext cx="106984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rPr dirty="0" err="1"/>
                        <a:t>Senaryo</a:t>
                      </a:r>
                    </a:p>
                  </a:txBody>
                  <a:tcPr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rPr dirty="0"/>
                        <a:t>Toplam KM</a:t>
                      </a:r>
                    </a:p>
                  </a:txBody>
                  <a:tcPr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rPr dirty="0"/>
                        <a:t>Toplam </a:t>
                      </a:r>
                      <a:r>
                        <a:rPr dirty="0" err="1"/>
                        <a:t>Süre</a:t>
                      </a:r>
                    </a:p>
                  </a:txBody>
                  <a:tcPr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rPr dirty="0"/>
                        <a:t>Toplam </a:t>
                      </a:r>
                      <a:r>
                        <a:rPr dirty="0" err="1"/>
                        <a:t>Maliyet</a:t>
                      </a:r>
                    </a:p>
                  </a:txBody>
                  <a:tcPr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rPr dirty="0" err="1"/>
                        <a:t>Araç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Sayısı</a:t>
                      </a:r>
                    </a:p>
                  </a:txBody>
                  <a:tcPr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rPr dirty="0"/>
                        <a:t>KG </a:t>
                      </a:r>
                      <a:r>
                        <a:rPr dirty="0" err="1"/>
                        <a:t>Doluluk</a:t>
                      </a:r>
                    </a:p>
                  </a:txBody>
                  <a:tcPr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rPr dirty="0"/>
                        <a:t>Desi </a:t>
                      </a:r>
                      <a:r>
                        <a:rPr dirty="0" err="1"/>
                        <a:t>Doluluk</a:t>
                      </a:r>
                    </a:p>
                  </a:txBody>
                  <a:tcPr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rPr dirty="0" err="1"/>
                        <a:t>Zamanında</a:t>
                      </a:r>
                      <a:r>
                        <a:rPr dirty="0"/>
                        <a:t> (SLA)</a:t>
                      </a:r>
                    </a:p>
                  </a:txBody>
                  <a:tcPr>
                    <a:solidFill>
                      <a:srgbClr val="1226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📏 DISTANCE (</a:t>
                      </a:r>
                      <a:r>
                        <a:rPr dirty="0" err="1">
                          <a:solidFill>
                            <a:schemeClr val="bg1"/>
                          </a:solidFill>
                        </a:rPr>
                        <a:t>Mesafe</a:t>
                      </a:r>
                      <a:r>
                        <a:rPr dirty="0">
                          <a:solidFill>
                            <a:schemeClr val="bg1"/>
                          </a:solidFill>
                        </a:rPr>
                        <a:t>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450.2 km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28.5 </a:t>
                      </a:r>
                      <a:r>
                        <a:rPr dirty="0" err="1">
                          <a:solidFill>
                            <a:schemeClr val="bg1"/>
                          </a:solidFill>
                        </a:rPr>
                        <a:t>saat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₺5,250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12 </a:t>
                      </a:r>
                      <a:r>
                        <a:rPr dirty="0" err="1">
                          <a:solidFill>
                            <a:schemeClr val="bg1"/>
                          </a:solidFill>
                        </a:rPr>
                        <a:t>Araç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%85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%78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%94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⏱️ TIME (</a:t>
                      </a:r>
                      <a:r>
                        <a:rPr dirty="0" err="1">
                          <a:solidFill>
                            <a:schemeClr val="bg1"/>
                          </a:solidFill>
                        </a:rPr>
                        <a:t>Süre</a:t>
                      </a:r>
                      <a:r>
                        <a:rPr dirty="0">
                          <a:solidFill>
                            <a:schemeClr val="bg1"/>
                          </a:solidFill>
                        </a:rPr>
                        <a:t>)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475.1 km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24.0 </a:t>
                      </a:r>
                      <a:r>
                        <a:rPr dirty="0" err="1">
                          <a:solidFill>
                            <a:schemeClr val="bg1"/>
                          </a:solidFill>
                        </a:rPr>
                        <a:t>saat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₺5,890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11 </a:t>
                      </a:r>
                      <a:r>
                        <a:rPr dirty="0" err="1">
                          <a:solidFill>
                            <a:schemeClr val="bg1"/>
                          </a:solidFill>
                        </a:rPr>
                        <a:t>Araç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%88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%81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59E0B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%98 ⭐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💰 COST (</a:t>
                      </a:r>
                      <a:r>
                        <a:rPr dirty="0" err="1">
                          <a:solidFill>
                            <a:schemeClr val="bg1"/>
                          </a:solidFill>
                        </a:rPr>
                        <a:t>Maliyet</a:t>
                      </a:r>
                      <a:r>
                        <a:rPr dirty="0">
                          <a:solidFill>
                            <a:schemeClr val="bg1"/>
                          </a:solidFill>
                        </a:rPr>
                        <a:t>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462.5 km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29.1 </a:t>
                      </a:r>
                      <a:r>
                        <a:rPr dirty="0" err="1">
                          <a:solidFill>
                            <a:schemeClr val="bg1"/>
                          </a:solidFill>
                        </a:rPr>
                        <a:t>saat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59E0B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₺5,100 ⭐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13 </a:t>
                      </a:r>
                      <a:r>
                        <a:rPr err="1">
                          <a:solidFill>
                            <a:schemeClr val="bg1"/>
                          </a:solidFill>
                        </a:rPr>
                        <a:t>Araç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%82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%74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%90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3840480"/>
            <a:ext cx="10698480" cy="237744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1250" b="1">
                <a:solidFill>
                  <a:srgbClr val="10B981"/>
                </a:solidFill>
              </a:defRPr>
            </a:pPr>
            <a:r>
              <a:rPr sz="1600" dirty="0"/>
              <a:t>📊 </a:t>
            </a:r>
            <a:r>
              <a:rPr sz="1600" dirty="0" err="1"/>
              <a:t>Yönetimsel</a:t>
            </a:r>
            <a:r>
              <a:rPr sz="1600" dirty="0"/>
              <a:t> Değerlendirme &amp; Karar </a:t>
            </a:r>
            <a:r>
              <a:rPr sz="1600" dirty="0" err="1"/>
              <a:t>Destek</a:t>
            </a:r>
            <a:r>
              <a:rPr sz="1600" dirty="0"/>
              <a:t> </a:t>
            </a:r>
            <a:r>
              <a:rPr sz="1600" dirty="0" err="1"/>
              <a:t>Çıkarımları</a:t>
            </a:r>
            <a:endParaRPr lang="en-US" sz="1600" dirty="0" err="1">
              <a:ea typeface="Calibri"/>
              <a:cs typeface="Calibri"/>
            </a:endParaRPr>
          </a:p>
          <a:p>
            <a:pPr>
              <a:defRPr sz="900">
                <a:solidFill>
                  <a:srgbClr val="E2E8F0"/>
                </a:solidFill>
              </a:defRPr>
            </a:pPr>
            <a:r>
              <a:rPr sz="1600" dirty="0"/>
              <a:t>• En </a:t>
            </a:r>
            <a:r>
              <a:rPr sz="1600" dirty="0" err="1"/>
              <a:t>Kârlı</a:t>
            </a:r>
            <a:r>
              <a:rPr sz="1600" dirty="0"/>
              <a:t> </a:t>
            </a:r>
            <a:r>
              <a:rPr sz="1600" dirty="0" err="1"/>
              <a:t>Senaryo</a:t>
            </a:r>
            <a:r>
              <a:rPr sz="1600" dirty="0"/>
              <a:t> (COST): Sabit </a:t>
            </a:r>
            <a:r>
              <a:rPr sz="1600" dirty="0" err="1"/>
              <a:t>çıkış</a:t>
            </a:r>
            <a:r>
              <a:rPr sz="1600" dirty="0"/>
              <a:t> </a:t>
            </a:r>
            <a:r>
              <a:rPr sz="1600" dirty="0" err="1"/>
              <a:t>maliyetlerini</a:t>
            </a:r>
            <a:r>
              <a:rPr sz="1600" dirty="0"/>
              <a:t> </a:t>
            </a:r>
            <a:r>
              <a:rPr sz="1600" dirty="0" err="1"/>
              <a:t>ve</a:t>
            </a:r>
            <a:r>
              <a:rPr sz="1600" dirty="0"/>
              <a:t> </a:t>
            </a:r>
            <a:r>
              <a:rPr sz="1600" dirty="0" err="1"/>
              <a:t>değişken</a:t>
            </a:r>
            <a:r>
              <a:rPr sz="1600" dirty="0"/>
              <a:t> km </a:t>
            </a:r>
            <a:r>
              <a:rPr sz="1600" dirty="0" err="1"/>
              <a:t>yakıtını</a:t>
            </a:r>
            <a:r>
              <a:rPr sz="1600" dirty="0"/>
              <a:t> </a:t>
            </a:r>
            <a:r>
              <a:rPr sz="1600" dirty="0" err="1"/>
              <a:t>en</a:t>
            </a:r>
            <a:r>
              <a:rPr sz="1600" dirty="0"/>
              <a:t> iyi optimize </a:t>
            </a:r>
            <a:r>
              <a:rPr sz="1600" dirty="0" err="1"/>
              <a:t>eden</a:t>
            </a:r>
            <a:r>
              <a:rPr sz="1600" dirty="0"/>
              <a:t> </a:t>
            </a:r>
            <a:r>
              <a:rPr sz="1600" dirty="0" err="1"/>
              <a:t>senaryo</a:t>
            </a:r>
            <a:r>
              <a:rPr sz="1600" dirty="0"/>
              <a:t> ₺5,100 </a:t>
            </a:r>
            <a:r>
              <a:rPr sz="1600" dirty="0" err="1"/>
              <a:t>ile</a:t>
            </a:r>
            <a:r>
              <a:rPr sz="1600" dirty="0"/>
              <a:t> </a:t>
            </a:r>
            <a:r>
              <a:rPr sz="1600" dirty="0" err="1"/>
              <a:t>Maliyet</a:t>
            </a:r>
            <a:r>
              <a:rPr sz="1600" dirty="0"/>
              <a:t> </a:t>
            </a:r>
            <a:r>
              <a:rPr sz="1600" dirty="0" err="1"/>
              <a:t>senaryosudur</a:t>
            </a:r>
            <a:r>
              <a:rPr sz="1600" dirty="0"/>
              <a:t> (</a:t>
            </a:r>
            <a:r>
              <a:rPr sz="1600" dirty="0" err="1"/>
              <a:t>Standart</a:t>
            </a:r>
            <a:r>
              <a:rPr sz="1600" dirty="0"/>
              <a:t> </a:t>
            </a:r>
            <a:r>
              <a:rPr sz="1600" dirty="0" err="1"/>
              <a:t>operasyon</a:t>
            </a:r>
            <a:r>
              <a:rPr sz="1600" dirty="0"/>
              <a:t> </a:t>
            </a:r>
            <a:r>
              <a:rPr sz="1600" dirty="0" err="1"/>
              <a:t>için</a:t>
            </a:r>
            <a:r>
              <a:rPr sz="1600" dirty="0"/>
              <a:t> </a:t>
            </a:r>
            <a:r>
              <a:rPr sz="1600" dirty="0" err="1"/>
              <a:t>önerilir</a:t>
            </a:r>
            <a:r>
              <a:rPr sz="1600" dirty="0"/>
              <a:t>).</a:t>
            </a:r>
            <a:endParaRPr sz="1600" dirty="0">
              <a:ea typeface="Calibri"/>
              <a:cs typeface="Calibri"/>
            </a:endParaRPr>
          </a:p>
          <a:p>
            <a:pPr>
              <a:defRPr sz="900">
                <a:solidFill>
                  <a:srgbClr val="E2E8F0"/>
                </a:solidFill>
              </a:defRPr>
            </a:pPr>
            <a:r>
              <a:rPr sz="1600" dirty="0"/>
              <a:t>• En Yüksek </a:t>
            </a:r>
            <a:r>
              <a:rPr sz="1600" dirty="0" err="1"/>
              <a:t>Müşteri</a:t>
            </a:r>
            <a:r>
              <a:rPr sz="1600" dirty="0"/>
              <a:t> </a:t>
            </a:r>
            <a:r>
              <a:rPr sz="1600" dirty="0" err="1"/>
              <a:t>Memnuniyeti</a:t>
            </a:r>
            <a:r>
              <a:rPr sz="1600" dirty="0"/>
              <a:t> (TIME): Express </a:t>
            </a:r>
            <a:r>
              <a:rPr sz="1600" dirty="0" err="1"/>
              <a:t>siparişlerin</a:t>
            </a:r>
            <a:r>
              <a:rPr sz="1600" dirty="0"/>
              <a:t> </a:t>
            </a:r>
            <a:r>
              <a:rPr sz="1600" dirty="0" err="1"/>
              <a:t>yoğun</a:t>
            </a:r>
            <a:r>
              <a:rPr sz="1600" dirty="0"/>
              <a:t> </a:t>
            </a:r>
            <a:r>
              <a:rPr sz="1600" dirty="0" err="1"/>
              <a:t>olduğu</a:t>
            </a:r>
            <a:r>
              <a:rPr sz="1600" dirty="0"/>
              <a:t> </a:t>
            </a:r>
            <a:r>
              <a:rPr sz="1600" dirty="0" err="1"/>
              <a:t>kritik</a:t>
            </a:r>
            <a:r>
              <a:rPr sz="1600" dirty="0"/>
              <a:t> </a:t>
            </a:r>
            <a:r>
              <a:rPr sz="1600" dirty="0" err="1"/>
              <a:t>günlerde</a:t>
            </a:r>
            <a:r>
              <a:rPr sz="1600" dirty="0"/>
              <a:t> </a:t>
            </a:r>
            <a:r>
              <a:rPr sz="1600" dirty="0" err="1"/>
              <a:t>Süre</a:t>
            </a:r>
            <a:r>
              <a:rPr sz="1600" dirty="0"/>
              <a:t> </a:t>
            </a:r>
            <a:r>
              <a:rPr sz="1600" dirty="0" err="1"/>
              <a:t>senaryosu</a:t>
            </a:r>
            <a:r>
              <a:rPr sz="1600" dirty="0"/>
              <a:t> </a:t>
            </a:r>
            <a:r>
              <a:rPr sz="1600" dirty="0" err="1"/>
              <a:t>seçilerek</a:t>
            </a:r>
            <a:r>
              <a:rPr sz="1600" dirty="0"/>
              <a:t> SLA </a:t>
            </a:r>
            <a:r>
              <a:rPr sz="1600" dirty="0" err="1"/>
              <a:t>başarısı</a:t>
            </a:r>
            <a:r>
              <a:rPr sz="1600" dirty="0"/>
              <a:t> %98'e </a:t>
            </a:r>
            <a:r>
              <a:rPr sz="1600" dirty="0" err="1"/>
              <a:t>çıkarılmaktadır</a:t>
            </a:r>
            <a:r>
              <a:rPr sz="1600" dirty="0"/>
              <a:t>.</a:t>
            </a:r>
            <a:endParaRPr sz="1600" dirty="0">
              <a:ea typeface="Calibri"/>
              <a:cs typeface="Calibri"/>
            </a:endParaRPr>
          </a:p>
          <a:p>
            <a:pPr>
              <a:defRPr sz="900">
                <a:solidFill>
                  <a:srgbClr val="E2E8F0"/>
                </a:solidFill>
              </a:defRPr>
            </a:pPr>
            <a:r>
              <a:rPr sz="1600" dirty="0"/>
              <a:t>• </a:t>
            </a:r>
            <a:r>
              <a:rPr sz="1600" err="1"/>
              <a:t>Yakıt</a:t>
            </a:r>
            <a:r>
              <a:rPr sz="1600" dirty="0"/>
              <a:t> </a:t>
            </a:r>
            <a:r>
              <a:rPr sz="1600" err="1"/>
              <a:t>ve</a:t>
            </a:r>
            <a:r>
              <a:rPr sz="1600" dirty="0"/>
              <a:t> Karbon </a:t>
            </a:r>
            <a:r>
              <a:rPr sz="1600" err="1"/>
              <a:t>Tasarrufu</a:t>
            </a:r>
            <a:r>
              <a:rPr sz="1600" dirty="0"/>
              <a:t> (DISTANCE): </a:t>
            </a:r>
            <a:r>
              <a:rPr sz="1600" err="1"/>
              <a:t>Mesafe</a:t>
            </a:r>
            <a:r>
              <a:rPr sz="1600" dirty="0"/>
              <a:t> </a:t>
            </a:r>
            <a:r>
              <a:rPr sz="1600" err="1"/>
              <a:t>senaryosu</a:t>
            </a:r>
            <a:r>
              <a:rPr sz="1600" dirty="0"/>
              <a:t> </a:t>
            </a:r>
            <a:r>
              <a:rPr sz="1600" err="1"/>
              <a:t>toplam</a:t>
            </a:r>
            <a:r>
              <a:rPr sz="1600" dirty="0"/>
              <a:t> </a:t>
            </a:r>
            <a:r>
              <a:rPr sz="1600" err="1"/>
              <a:t>kilometreyi</a:t>
            </a:r>
            <a:r>
              <a:rPr sz="1600" dirty="0"/>
              <a:t> 450.2 </a:t>
            </a:r>
            <a:r>
              <a:rPr sz="1600" err="1"/>
              <a:t>km'ye</a:t>
            </a:r>
            <a:r>
              <a:rPr sz="1600" dirty="0"/>
              <a:t> </a:t>
            </a:r>
            <a:r>
              <a:rPr sz="1600" err="1"/>
              <a:t>çekerek</a:t>
            </a:r>
            <a:r>
              <a:rPr sz="1600" dirty="0"/>
              <a:t> </a:t>
            </a:r>
            <a:r>
              <a:rPr sz="1600" err="1"/>
              <a:t>karbon</a:t>
            </a:r>
            <a:r>
              <a:rPr sz="1600" dirty="0"/>
              <a:t> </a:t>
            </a:r>
            <a:r>
              <a:rPr sz="1600" err="1"/>
              <a:t>ayak</a:t>
            </a:r>
            <a:r>
              <a:rPr sz="1600" dirty="0"/>
              <a:t> </a:t>
            </a:r>
            <a:r>
              <a:rPr sz="1600" err="1"/>
              <a:t>izini</a:t>
            </a:r>
            <a:r>
              <a:rPr sz="1600" dirty="0"/>
              <a:t> </a:t>
            </a:r>
            <a:r>
              <a:rPr sz="1600" err="1"/>
              <a:t>ve</a:t>
            </a:r>
            <a:r>
              <a:rPr sz="1600" dirty="0"/>
              <a:t> filo </a:t>
            </a:r>
            <a:r>
              <a:rPr sz="1600" err="1"/>
              <a:t>yıpranmasını</a:t>
            </a:r>
            <a:r>
              <a:rPr sz="1600" dirty="0"/>
              <a:t> </a:t>
            </a:r>
            <a:r>
              <a:rPr sz="1600" err="1"/>
              <a:t>minimuma</a:t>
            </a:r>
            <a:r>
              <a:rPr sz="1600" dirty="0"/>
              <a:t> </a:t>
            </a:r>
            <a:r>
              <a:rPr sz="1600" err="1"/>
              <a:t>indirmektedir</a:t>
            </a:r>
            <a:r>
              <a:rPr sz="1600" dirty="0"/>
              <a:t>.</a:t>
            </a:r>
            <a:endParaRPr sz="16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09 / PERFORMANS ALTYAPISI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API Kotalarını ve Çözüm Hızını Koruyan 3 Katmanlı Önbellek Mimarisi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1887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 b="1">
                <a:solidFill>
                  <a:srgbClr val="10B981"/>
                </a:solidFill>
                <a:latin typeface="Segoe UI"/>
              </a:defRPr>
            </a:pPr>
            <a:r>
              <a:t>10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383280" cy="48463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rPr sz="1400" dirty="0"/>
              <a:t>📍 1. Geocode Cache</a:t>
            </a:r>
            <a:br>
              <a:rPr sz="1400" dirty="0"/>
            </a:br>
            <a:r>
              <a:rPr sz="1400" dirty="0"/>
              <a:t>(Adres Koordinat Önbelleği)</a:t>
            </a:r>
            <a:br>
              <a:rPr sz="1400" dirty="0"/>
            </a:br>
            <a:endParaRPr lang="en-US" sz="1400">
              <a:ea typeface="Calibri"/>
              <a:cs typeface="Calibri"/>
            </a:endParaRPr>
          </a:p>
          <a:p>
            <a:pPr>
              <a:defRPr sz="950">
                <a:solidFill>
                  <a:srgbClr val="E2E8F0"/>
                </a:solidFill>
              </a:defRPr>
            </a:pPr>
            <a:r>
              <a:rPr sz="1400" dirty="0"/>
              <a:t>• Dosya: </a:t>
            </a:r>
            <a:r>
              <a:rPr sz="1400" dirty="0" err="1"/>
              <a:t>geocode_cache.json</a:t>
            </a:r>
            <a:br>
              <a:rPr sz="1400" dirty="0"/>
            </a:br>
            <a:br>
              <a:rPr sz="1400" dirty="0"/>
            </a:br>
            <a:r>
              <a:rPr sz="1400" dirty="0"/>
              <a:t>• </a:t>
            </a:r>
            <a:r>
              <a:rPr sz="1400" dirty="0" err="1"/>
              <a:t>İşleyiş</a:t>
            </a:r>
            <a:r>
              <a:rPr sz="1400" dirty="0"/>
              <a:t>: Daha </a:t>
            </a:r>
            <a:r>
              <a:rPr sz="1400" dirty="0" err="1"/>
              <a:t>önce</a:t>
            </a:r>
            <a:r>
              <a:rPr sz="1400" dirty="0"/>
              <a:t> </a:t>
            </a:r>
            <a:r>
              <a:rPr sz="1400" dirty="0" err="1"/>
              <a:t>sorgulanan</a:t>
            </a:r>
            <a:r>
              <a:rPr sz="1400" dirty="0"/>
              <a:t> </a:t>
            </a:r>
            <a:r>
              <a:rPr sz="1400" dirty="0" err="1"/>
              <a:t>adreslerin</a:t>
            </a:r>
            <a:r>
              <a:rPr sz="1400" dirty="0"/>
              <a:t> </a:t>
            </a:r>
            <a:r>
              <a:rPr sz="1400" dirty="0" err="1"/>
              <a:t>koordinatları</a:t>
            </a:r>
            <a:r>
              <a:rPr sz="1400" dirty="0"/>
              <a:t> </a:t>
            </a:r>
            <a:r>
              <a:rPr sz="1400" dirty="0" err="1"/>
              <a:t>diskte</a:t>
            </a:r>
            <a:r>
              <a:rPr sz="1400" dirty="0"/>
              <a:t> </a:t>
            </a:r>
            <a:r>
              <a:rPr sz="1400" dirty="0" err="1"/>
              <a:t>kalıcı</a:t>
            </a:r>
            <a:r>
              <a:rPr sz="1400" dirty="0"/>
              <a:t> </a:t>
            </a:r>
            <a:r>
              <a:rPr sz="1400" dirty="0" err="1"/>
              <a:t>saklanır</a:t>
            </a:r>
            <a:r>
              <a:rPr sz="1400" dirty="0"/>
              <a:t>.</a:t>
            </a:r>
            <a:br>
              <a:rPr sz="1400" dirty="0"/>
            </a:br>
            <a:br>
              <a:rPr sz="1400" dirty="0"/>
            </a:br>
            <a:r>
              <a:rPr sz="1400" dirty="0"/>
              <a:t>• Fayda: </a:t>
            </a:r>
            <a:r>
              <a:rPr sz="1400" dirty="0" err="1"/>
              <a:t>Aynı</a:t>
            </a:r>
            <a:r>
              <a:rPr sz="1400" dirty="0"/>
              <a:t> </a:t>
            </a:r>
            <a:r>
              <a:rPr sz="1400" dirty="0" err="1"/>
              <a:t>adres</a:t>
            </a:r>
            <a:r>
              <a:rPr sz="1400" dirty="0"/>
              <a:t> </a:t>
            </a:r>
            <a:r>
              <a:rPr sz="1400" dirty="0" err="1"/>
              <a:t>tekrar</a:t>
            </a:r>
            <a:r>
              <a:rPr sz="1400" dirty="0"/>
              <a:t> </a:t>
            </a:r>
            <a:r>
              <a:rPr sz="1400" dirty="0" err="1"/>
              <a:t>girildiğinde</a:t>
            </a:r>
            <a:r>
              <a:rPr sz="1400" dirty="0"/>
              <a:t> </a:t>
            </a:r>
            <a:r>
              <a:rPr sz="1400" dirty="0" err="1"/>
              <a:t>dış</a:t>
            </a:r>
            <a:r>
              <a:rPr sz="1400" dirty="0"/>
              <a:t> </a:t>
            </a:r>
            <a:r>
              <a:rPr sz="1400" dirty="0" err="1"/>
              <a:t>API'ye</a:t>
            </a:r>
            <a:r>
              <a:rPr sz="1400" dirty="0"/>
              <a:t> </a:t>
            </a:r>
            <a:r>
              <a:rPr sz="1400" dirty="0" err="1"/>
              <a:t>gitmez</a:t>
            </a:r>
            <a:r>
              <a:rPr sz="1400" dirty="0"/>
              <a:t>, 0 </a:t>
            </a:r>
            <a:r>
              <a:rPr sz="1400" dirty="0" err="1"/>
              <a:t>ms</a:t>
            </a:r>
            <a:r>
              <a:rPr sz="1400" dirty="0"/>
              <a:t> </a:t>
            </a:r>
            <a:r>
              <a:rPr sz="1400" dirty="0" err="1"/>
              <a:t>yanıt</a:t>
            </a:r>
            <a:r>
              <a:rPr sz="1400" dirty="0"/>
              <a:t> </a:t>
            </a:r>
            <a:r>
              <a:rPr sz="1400" dirty="0" err="1"/>
              <a:t>süresiyle</a:t>
            </a:r>
            <a:r>
              <a:rPr sz="1400" dirty="0"/>
              <a:t> </a:t>
            </a:r>
            <a:r>
              <a:rPr sz="1400" dirty="0" err="1"/>
              <a:t>kota</a:t>
            </a:r>
            <a:r>
              <a:rPr sz="1400" dirty="0"/>
              <a:t> </a:t>
            </a:r>
            <a:r>
              <a:rPr sz="1400" dirty="0" err="1"/>
              <a:t>harcamadan</a:t>
            </a:r>
            <a:r>
              <a:rPr sz="1400" dirty="0"/>
              <a:t> </a:t>
            </a:r>
            <a:r>
              <a:rPr sz="1400" dirty="0" err="1"/>
              <a:t>anında</a:t>
            </a:r>
            <a:r>
              <a:rPr sz="1400" dirty="0"/>
              <a:t> döner.</a:t>
            </a:r>
            <a:endParaRPr sz="1400" dirty="0">
              <a:ea typeface="Calibri"/>
              <a:cs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389120" y="1280160"/>
            <a:ext cx="3383280" cy="48463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1300" b="1">
                <a:solidFill>
                  <a:srgbClr val="3B82F6"/>
                </a:solidFill>
              </a:defRPr>
            </a:pPr>
            <a:r>
              <a:rPr sz="1400" dirty="0"/>
              <a:t>🌐 2. Matrix Cache</a:t>
            </a:r>
            <a:br>
              <a:rPr sz="1400" dirty="0"/>
            </a:br>
            <a:r>
              <a:rPr sz="1400" dirty="0"/>
              <a:t>(</a:t>
            </a:r>
            <a:r>
              <a:rPr sz="1400" dirty="0" err="1"/>
              <a:t>Mesafe</a:t>
            </a:r>
            <a:r>
              <a:rPr sz="1400" dirty="0"/>
              <a:t>/</a:t>
            </a:r>
            <a:r>
              <a:rPr sz="1400" dirty="0" err="1"/>
              <a:t>Süre</a:t>
            </a:r>
            <a:r>
              <a:rPr sz="1400" dirty="0"/>
              <a:t> &amp; Subset Matching)</a:t>
            </a:r>
            <a:br>
              <a:rPr sz="1400" dirty="0"/>
            </a:br>
            <a:endParaRPr lang="en-US" sz="1400">
              <a:ea typeface="Calibri"/>
              <a:cs typeface="Calibri"/>
            </a:endParaRPr>
          </a:p>
          <a:p>
            <a:pPr>
              <a:defRPr sz="950">
                <a:solidFill>
                  <a:srgbClr val="E2E8F0"/>
                </a:solidFill>
              </a:defRPr>
            </a:pPr>
            <a:r>
              <a:rPr sz="1400" dirty="0"/>
              <a:t>• Dosya: </a:t>
            </a:r>
            <a:r>
              <a:rPr sz="1400" dirty="0" err="1"/>
              <a:t>matrix_cache.json</a:t>
            </a:r>
            <a:br>
              <a:rPr sz="1400" dirty="0"/>
            </a:br>
            <a:br>
              <a:rPr sz="1400" dirty="0"/>
            </a:br>
            <a:r>
              <a:rPr sz="1400" dirty="0"/>
              <a:t>• </a:t>
            </a:r>
            <a:r>
              <a:rPr sz="1400" dirty="0" err="1"/>
              <a:t>İşleyiş</a:t>
            </a:r>
            <a:r>
              <a:rPr sz="1400" dirty="0"/>
              <a:t>: </a:t>
            </a:r>
            <a:r>
              <a:rPr sz="1400" dirty="0" err="1"/>
              <a:t>Noktalar</a:t>
            </a:r>
            <a:r>
              <a:rPr sz="1400" dirty="0"/>
              <a:t> </a:t>
            </a:r>
            <a:r>
              <a:rPr sz="1400" dirty="0" err="1"/>
              <a:t>arası</a:t>
            </a:r>
            <a:r>
              <a:rPr sz="1400" dirty="0"/>
              <a:t> </a:t>
            </a:r>
            <a:r>
              <a:rPr sz="1400" dirty="0" err="1"/>
              <a:t>mesafe</a:t>
            </a:r>
            <a:r>
              <a:rPr sz="1400" dirty="0"/>
              <a:t>/</a:t>
            </a:r>
            <a:r>
              <a:rPr sz="1400" dirty="0" err="1"/>
              <a:t>süre</a:t>
            </a:r>
            <a:r>
              <a:rPr sz="1400" dirty="0"/>
              <a:t> </a:t>
            </a:r>
            <a:r>
              <a:rPr sz="1400" dirty="0" err="1"/>
              <a:t>matrisleri</a:t>
            </a:r>
            <a:r>
              <a:rPr sz="1400" dirty="0"/>
              <a:t> </a:t>
            </a:r>
            <a:r>
              <a:rPr sz="1400" dirty="0" err="1"/>
              <a:t>imza</a:t>
            </a:r>
            <a:r>
              <a:rPr sz="1400" dirty="0"/>
              <a:t> </a:t>
            </a:r>
            <a:r>
              <a:rPr sz="1400" dirty="0" err="1"/>
              <a:t>bazlı</a:t>
            </a:r>
            <a:r>
              <a:rPr sz="1400" dirty="0"/>
              <a:t> </a:t>
            </a:r>
            <a:r>
              <a:rPr sz="1400" dirty="0" err="1"/>
              <a:t>tutulur</a:t>
            </a:r>
            <a:r>
              <a:rPr sz="1400" dirty="0"/>
              <a:t>.</a:t>
            </a:r>
            <a:br>
              <a:rPr sz="1400" dirty="0"/>
            </a:br>
            <a:br>
              <a:rPr sz="1400" dirty="0"/>
            </a:br>
            <a:r>
              <a:rPr sz="1400" dirty="0"/>
              <a:t>• Akıllı Alt </a:t>
            </a:r>
            <a:r>
              <a:rPr sz="1400" dirty="0" err="1"/>
              <a:t>Küme</a:t>
            </a:r>
            <a:r>
              <a:rPr sz="1400" dirty="0"/>
              <a:t> </a:t>
            </a:r>
            <a:r>
              <a:rPr sz="1400" dirty="0" err="1"/>
              <a:t>Tespiti</a:t>
            </a:r>
            <a:r>
              <a:rPr sz="1400" dirty="0"/>
              <a:t>: </a:t>
            </a:r>
            <a:r>
              <a:rPr sz="1400" dirty="0" err="1"/>
              <a:t>Önbellekte</a:t>
            </a:r>
            <a:r>
              <a:rPr sz="1400" dirty="0"/>
              <a:t> 50 </a:t>
            </a:r>
            <a:r>
              <a:rPr sz="1400" dirty="0" err="1"/>
              <a:t>noktalı</a:t>
            </a:r>
            <a:r>
              <a:rPr sz="1400" dirty="0"/>
              <a:t> </a:t>
            </a:r>
            <a:r>
              <a:rPr sz="1400" dirty="0" err="1"/>
              <a:t>matris</a:t>
            </a:r>
            <a:r>
              <a:rPr sz="1400" dirty="0"/>
              <a:t> </a:t>
            </a:r>
            <a:r>
              <a:rPr sz="1400" dirty="0" err="1"/>
              <a:t>varsa</a:t>
            </a:r>
            <a:r>
              <a:rPr sz="1400" dirty="0"/>
              <a:t>, 30 </a:t>
            </a:r>
            <a:r>
              <a:rPr sz="1400" dirty="0" err="1"/>
              <a:t>noktalı</a:t>
            </a:r>
            <a:r>
              <a:rPr sz="1400" dirty="0"/>
              <a:t> alt </a:t>
            </a:r>
            <a:r>
              <a:rPr sz="1400" dirty="0" err="1"/>
              <a:t>küme</a:t>
            </a:r>
            <a:r>
              <a:rPr sz="1400" dirty="0"/>
              <a:t> </a:t>
            </a:r>
            <a:r>
              <a:rPr sz="1400" dirty="0" err="1"/>
              <a:t>sorgusu</a:t>
            </a:r>
            <a:r>
              <a:rPr sz="1400" dirty="0"/>
              <a:t> </a:t>
            </a:r>
            <a:r>
              <a:rPr sz="1400" dirty="0" err="1"/>
              <a:t>sıfır</a:t>
            </a:r>
            <a:r>
              <a:rPr sz="1400" dirty="0"/>
              <a:t> API </a:t>
            </a:r>
            <a:r>
              <a:rPr sz="1400" dirty="0" err="1"/>
              <a:t>çağrısıyla</a:t>
            </a:r>
            <a:r>
              <a:rPr sz="1400" dirty="0"/>
              <a:t> </a:t>
            </a:r>
            <a:r>
              <a:rPr sz="1400" dirty="0" err="1"/>
              <a:t>diskin</a:t>
            </a:r>
            <a:r>
              <a:rPr sz="1400" dirty="0"/>
              <a:t> </a:t>
            </a:r>
            <a:r>
              <a:rPr sz="1400" dirty="0" err="1"/>
              <a:t>içinden</a:t>
            </a:r>
            <a:r>
              <a:rPr sz="1400" dirty="0"/>
              <a:t> </a:t>
            </a:r>
            <a:r>
              <a:rPr sz="1400" dirty="0" err="1"/>
              <a:t>çözülür</a:t>
            </a:r>
            <a:r>
              <a:rPr sz="1400" dirty="0"/>
              <a:t> (%95 </a:t>
            </a:r>
            <a:r>
              <a:rPr sz="1400" dirty="0" err="1"/>
              <a:t>kota</a:t>
            </a:r>
            <a:r>
              <a:rPr sz="1400" dirty="0"/>
              <a:t> </a:t>
            </a:r>
            <a:r>
              <a:rPr sz="1400" dirty="0" err="1"/>
              <a:t>tasarrufu</a:t>
            </a:r>
            <a:r>
              <a:rPr sz="1400" dirty="0"/>
              <a:t>).</a:t>
            </a:r>
            <a:endParaRPr sz="1400" dirty="0">
              <a:ea typeface="Calibri"/>
              <a:cs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046720" y="1280160"/>
            <a:ext cx="3383280" cy="48463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rPr sz="1400" dirty="0"/>
              <a:t>⚡ 3. Directions Cache &amp; </a:t>
            </a:r>
            <a:r>
              <a:rPr sz="1400" dirty="0" err="1"/>
              <a:t>Hız</a:t>
            </a:r>
            <a:br>
              <a:rPr sz="1400" dirty="0"/>
            </a:br>
            <a:r>
              <a:rPr sz="1400" dirty="0"/>
              <a:t>(</a:t>
            </a:r>
            <a:r>
              <a:rPr sz="1400" dirty="0" err="1"/>
              <a:t>Anlık</a:t>
            </a:r>
            <a:r>
              <a:rPr sz="1400" dirty="0"/>
              <a:t> &lt;1 Saniye </a:t>
            </a:r>
            <a:r>
              <a:rPr sz="1400" dirty="0" err="1"/>
              <a:t>Çözüm</a:t>
            </a:r>
            <a:r>
              <a:rPr sz="1400" dirty="0"/>
              <a:t>)</a:t>
            </a:r>
            <a:br>
              <a:rPr sz="1400" dirty="0"/>
            </a:br>
            <a:endParaRPr lang="en-US" sz="1400">
              <a:ea typeface="Calibri"/>
              <a:cs typeface="Calibri"/>
            </a:endParaRPr>
          </a:p>
          <a:p>
            <a:pPr>
              <a:defRPr sz="950">
                <a:solidFill>
                  <a:srgbClr val="E2E8F0"/>
                </a:solidFill>
              </a:defRPr>
            </a:pPr>
            <a:r>
              <a:rPr sz="1400" dirty="0"/>
              <a:t>• Dosya: </a:t>
            </a:r>
            <a:r>
              <a:rPr sz="1400" dirty="0" err="1"/>
              <a:t>directions_cache.json</a:t>
            </a:r>
            <a:br>
              <a:rPr sz="1400" dirty="0"/>
            </a:br>
            <a:br>
              <a:rPr sz="1400" dirty="0"/>
            </a:br>
            <a:r>
              <a:rPr sz="1400" dirty="0"/>
              <a:t>• </a:t>
            </a:r>
            <a:r>
              <a:rPr sz="1400" dirty="0" err="1"/>
              <a:t>İşleyiş</a:t>
            </a:r>
            <a:r>
              <a:rPr sz="1400" dirty="0"/>
              <a:t>: Harita </a:t>
            </a:r>
            <a:r>
              <a:rPr sz="1400" dirty="0" err="1"/>
              <a:t>yol</a:t>
            </a:r>
            <a:r>
              <a:rPr sz="1400" dirty="0"/>
              <a:t> </a:t>
            </a:r>
            <a:r>
              <a:rPr sz="1400" dirty="0" err="1"/>
              <a:t>çizgisi</a:t>
            </a:r>
            <a:r>
              <a:rPr sz="1400" dirty="0"/>
              <a:t> </a:t>
            </a:r>
            <a:r>
              <a:rPr sz="1400" dirty="0" err="1"/>
              <a:t>geometrileri</a:t>
            </a:r>
            <a:r>
              <a:rPr sz="1400" dirty="0"/>
              <a:t> </a:t>
            </a:r>
            <a:r>
              <a:rPr sz="1400" dirty="0" err="1"/>
              <a:t>önbelleğe</a:t>
            </a:r>
            <a:r>
              <a:rPr sz="1400" dirty="0"/>
              <a:t> </a:t>
            </a:r>
            <a:r>
              <a:rPr sz="1400" dirty="0" err="1"/>
              <a:t>alınır</a:t>
            </a:r>
            <a:r>
              <a:rPr sz="1400" dirty="0"/>
              <a:t>.</a:t>
            </a:r>
            <a:br>
              <a:rPr sz="1400" dirty="0"/>
            </a:br>
            <a:br>
              <a:rPr sz="1400" dirty="0"/>
            </a:br>
            <a:r>
              <a:rPr sz="1400" dirty="0"/>
              <a:t>• </a:t>
            </a:r>
            <a:r>
              <a:rPr sz="1400" dirty="0" err="1"/>
              <a:t>Canlı</a:t>
            </a:r>
            <a:r>
              <a:rPr sz="1400" dirty="0"/>
              <a:t> Re-Optimize: Yeni </a:t>
            </a:r>
            <a:r>
              <a:rPr sz="1400" dirty="0" err="1"/>
              <a:t>sipariş</a:t>
            </a:r>
            <a:r>
              <a:rPr sz="1400" dirty="0"/>
              <a:t> </a:t>
            </a:r>
            <a:r>
              <a:rPr sz="1400" dirty="0" err="1"/>
              <a:t>eklendiğinde</a:t>
            </a:r>
            <a:r>
              <a:rPr sz="1400" dirty="0"/>
              <a:t> </a:t>
            </a:r>
            <a:r>
              <a:rPr sz="1400" dirty="0" err="1"/>
              <a:t>tüm</a:t>
            </a:r>
            <a:r>
              <a:rPr sz="1400" dirty="0"/>
              <a:t> filo </a:t>
            </a:r>
            <a:r>
              <a:rPr sz="1400" dirty="0" err="1"/>
              <a:t>ve</a:t>
            </a:r>
            <a:r>
              <a:rPr sz="1400" dirty="0"/>
              <a:t> </a:t>
            </a:r>
            <a:r>
              <a:rPr sz="1400" dirty="0" err="1"/>
              <a:t>kısıtlar</a:t>
            </a:r>
            <a:r>
              <a:rPr sz="1400" dirty="0"/>
              <a:t> 1 </a:t>
            </a:r>
            <a:r>
              <a:rPr sz="1400" dirty="0" err="1"/>
              <a:t>saniyenin</a:t>
            </a:r>
            <a:r>
              <a:rPr sz="1400" dirty="0"/>
              <a:t> </a:t>
            </a:r>
            <a:r>
              <a:rPr sz="1400" dirty="0" err="1"/>
              <a:t>altında</a:t>
            </a:r>
            <a:r>
              <a:rPr sz="1400" dirty="0"/>
              <a:t> </a:t>
            </a:r>
            <a:r>
              <a:rPr sz="1400" dirty="0" err="1"/>
              <a:t>yeniden</a:t>
            </a:r>
            <a:r>
              <a:rPr sz="1400" dirty="0"/>
              <a:t> optimize </a:t>
            </a:r>
            <a:r>
              <a:rPr sz="1400" dirty="0" err="1"/>
              <a:t>edilerek</a:t>
            </a:r>
            <a:r>
              <a:rPr sz="1400" dirty="0"/>
              <a:t> </a:t>
            </a:r>
            <a:r>
              <a:rPr sz="1400" dirty="0" err="1"/>
              <a:t>canlı</a:t>
            </a:r>
            <a:r>
              <a:rPr sz="1400" dirty="0"/>
              <a:t> </a:t>
            </a:r>
            <a:r>
              <a:rPr sz="1400" dirty="0" err="1"/>
              <a:t>ekrana</a:t>
            </a:r>
            <a:r>
              <a:rPr sz="1400" dirty="0"/>
              <a:t> </a:t>
            </a:r>
            <a:r>
              <a:rPr sz="1400" dirty="0" err="1"/>
              <a:t>yansıtılır</a:t>
            </a:r>
            <a:r>
              <a:rPr sz="1400" dirty="0"/>
              <a:t>.</a:t>
            </a:r>
            <a:endParaRPr sz="14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10 / CANLI WEB PANELI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Operasyonel Canlı Yönetim Paneli &amp; Kullanıcı Arayüzü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1887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 b="1">
                <a:solidFill>
                  <a:srgbClr val="10B981"/>
                </a:solidFill>
                <a:latin typeface="Segoe UI"/>
              </a:defRPr>
            </a:pPr>
            <a:r>
              <a:t>11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2286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1250" b="1">
                <a:solidFill>
                  <a:srgbClr val="10B981"/>
                </a:solidFill>
              </a:defRPr>
            </a:pPr>
            <a:r>
              <a:rPr sz="1400" dirty="0"/>
              <a:t>🗺️ 1. </a:t>
            </a:r>
            <a:r>
              <a:rPr sz="1400" dirty="0" err="1"/>
              <a:t>İnteraktif</a:t>
            </a:r>
            <a:r>
              <a:rPr sz="1400" dirty="0"/>
              <a:t> Harita &amp; </a:t>
            </a:r>
            <a:r>
              <a:rPr sz="1400" dirty="0" err="1"/>
              <a:t>Canlı</a:t>
            </a:r>
            <a:r>
              <a:rPr sz="1400" dirty="0"/>
              <a:t> Yol </a:t>
            </a:r>
            <a:r>
              <a:rPr sz="1400" dirty="0" err="1"/>
              <a:t>Çizimi</a:t>
            </a:r>
            <a:endParaRPr lang="en-US" sz="1400" dirty="0" err="1">
              <a:ea typeface="Calibri"/>
              <a:cs typeface="Calibri"/>
            </a:endParaRPr>
          </a:p>
          <a:p>
            <a:pPr>
              <a:defRPr sz="950">
                <a:solidFill>
                  <a:srgbClr val="94A3B8"/>
                </a:solidFill>
              </a:defRPr>
            </a:pPr>
            <a:r>
              <a:rPr sz="1400" dirty="0"/>
              <a:t>Leaflet.js </a:t>
            </a:r>
            <a:r>
              <a:rPr sz="1400" err="1"/>
              <a:t>haritası</a:t>
            </a:r>
            <a:r>
              <a:rPr sz="1400" dirty="0"/>
              <a:t> </a:t>
            </a:r>
            <a:r>
              <a:rPr sz="1400" err="1"/>
              <a:t>üzerinde</a:t>
            </a:r>
            <a:r>
              <a:rPr sz="1400" dirty="0"/>
              <a:t> her </a:t>
            </a:r>
            <a:r>
              <a:rPr sz="1400" err="1"/>
              <a:t>aracın</a:t>
            </a:r>
            <a:r>
              <a:rPr sz="1400" dirty="0"/>
              <a:t> </a:t>
            </a:r>
            <a:r>
              <a:rPr sz="1400" err="1"/>
              <a:t>rotası</a:t>
            </a:r>
            <a:r>
              <a:rPr sz="1400" dirty="0"/>
              <a:t> </a:t>
            </a:r>
            <a:r>
              <a:rPr sz="1400" err="1"/>
              <a:t>kendine</a:t>
            </a:r>
            <a:r>
              <a:rPr sz="1400" dirty="0"/>
              <a:t> </a:t>
            </a:r>
            <a:r>
              <a:rPr sz="1400" err="1"/>
              <a:t>özel</a:t>
            </a:r>
            <a:r>
              <a:rPr sz="1400" dirty="0"/>
              <a:t> </a:t>
            </a:r>
            <a:r>
              <a:rPr sz="1400" err="1"/>
              <a:t>canlı</a:t>
            </a:r>
            <a:r>
              <a:rPr sz="1400" dirty="0"/>
              <a:t> </a:t>
            </a:r>
            <a:r>
              <a:rPr sz="1400" err="1"/>
              <a:t>renkle</a:t>
            </a:r>
            <a:r>
              <a:rPr sz="1400" dirty="0"/>
              <a:t> </a:t>
            </a:r>
            <a:r>
              <a:rPr sz="1400" err="1"/>
              <a:t>ve</a:t>
            </a:r>
            <a:r>
              <a:rPr sz="1400" dirty="0"/>
              <a:t> </a:t>
            </a:r>
            <a:r>
              <a:rPr sz="1400" err="1"/>
              <a:t>gerçek</a:t>
            </a:r>
            <a:r>
              <a:rPr sz="1400" dirty="0"/>
              <a:t> </a:t>
            </a:r>
            <a:r>
              <a:rPr sz="1400" err="1"/>
              <a:t>karayolu</a:t>
            </a:r>
            <a:r>
              <a:rPr sz="1400" dirty="0"/>
              <a:t> </a:t>
            </a:r>
            <a:r>
              <a:rPr sz="1400" err="1"/>
              <a:t>kıvrımlarıyla</a:t>
            </a:r>
            <a:r>
              <a:rPr sz="1400" dirty="0"/>
              <a:t> (Directions) </a:t>
            </a:r>
            <a:r>
              <a:rPr sz="1400" err="1"/>
              <a:t>çizilir</a:t>
            </a:r>
            <a:r>
              <a:rPr sz="1400" dirty="0"/>
              <a:t>. </a:t>
            </a:r>
            <a:r>
              <a:rPr sz="1400" err="1"/>
              <a:t>Duraklar</a:t>
            </a:r>
            <a:r>
              <a:rPr sz="1400" dirty="0"/>
              <a:t> 1'den </a:t>
            </a:r>
            <a:r>
              <a:rPr sz="1400" err="1"/>
              <a:t>N'e</a:t>
            </a:r>
            <a:r>
              <a:rPr sz="1400" dirty="0"/>
              <a:t> </a:t>
            </a:r>
            <a:r>
              <a:rPr sz="1400" err="1"/>
              <a:t>sıralı</a:t>
            </a:r>
            <a:r>
              <a:rPr sz="1400" dirty="0"/>
              <a:t> </a:t>
            </a:r>
            <a:r>
              <a:rPr sz="1400" err="1"/>
              <a:t>pinlerle</a:t>
            </a:r>
            <a:r>
              <a:rPr sz="1400" dirty="0"/>
              <a:t> </a:t>
            </a:r>
            <a:r>
              <a:rPr sz="1400" err="1"/>
              <a:t>gösterilir</a:t>
            </a:r>
            <a:r>
              <a:rPr sz="1400" dirty="0"/>
              <a:t>; </a:t>
            </a:r>
            <a:r>
              <a:rPr sz="1400" err="1"/>
              <a:t>tıklandığında</a:t>
            </a:r>
            <a:r>
              <a:rPr sz="1400" dirty="0"/>
              <a:t> </a:t>
            </a:r>
            <a:r>
              <a:rPr sz="1400" err="1"/>
              <a:t>müşteri</a:t>
            </a:r>
            <a:r>
              <a:rPr sz="1400" dirty="0"/>
              <a:t> </a:t>
            </a:r>
            <a:r>
              <a:rPr sz="1400" err="1"/>
              <a:t>ve</a:t>
            </a:r>
            <a:r>
              <a:rPr sz="1400" dirty="0"/>
              <a:t> </a:t>
            </a:r>
            <a:r>
              <a:rPr sz="1400" err="1"/>
              <a:t>kargo</a:t>
            </a:r>
            <a:r>
              <a:rPr sz="1400" dirty="0"/>
              <a:t> </a:t>
            </a:r>
            <a:r>
              <a:rPr sz="1400" err="1"/>
              <a:t>detayları</a:t>
            </a:r>
            <a:r>
              <a:rPr sz="1400" dirty="0"/>
              <a:t> </a:t>
            </a:r>
            <a:r>
              <a:rPr sz="1400" err="1"/>
              <a:t>açılır</a:t>
            </a:r>
            <a:r>
              <a:rPr sz="1400" dirty="0"/>
              <a:t>.</a:t>
            </a:r>
            <a:endParaRPr sz="1400" dirty="0">
              <a:ea typeface="Calibri"/>
              <a:cs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120640" cy="2286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1250" b="1">
                <a:solidFill>
                  <a:srgbClr val="38BDF8"/>
                </a:solidFill>
              </a:defRPr>
            </a:pPr>
            <a:r>
              <a:rPr sz="1400" dirty="0"/>
              <a:t>🔍 2. </a:t>
            </a:r>
            <a:r>
              <a:rPr sz="1400" dirty="0" err="1"/>
              <a:t>Canlı</a:t>
            </a:r>
            <a:r>
              <a:rPr sz="1400" dirty="0"/>
              <a:t> Autocomplete &amp; Adres </a:t>
            </a:r>
            <a:r>
              <a:rPr sz="1400" dirty="0" err="1"/>
              <a:t>Doğrulama</a:t>
            </a:r>
            <a:endParaRPr lang="en-US" sz="1400" dirty="0" err="1">
              <a:ea typeface="Calibri"/>
              <a:cs typeface="Calibri"/>
            </a:endParaRPr>
          </a:p>
          <a:p>
            <a:pPr>
              <a:defRPr sz="950">
                <a:solidFill>
                  <a:srgbClr val="94A3B8"/>
                </a:solidFill>
              </a:defRPr>
            </a:pPr>
            <a:r>
              <a:rPr sz="1400" dirty="0"/>
              <a:t>Arama </a:t>
            </a:r>
            <a:r>
              <a:rPr sz="1400" dirty="0" err="1"/>
              <a:t>kutusuna</a:t>
            </a:r>
            <a:r>
              <a:rPr sz="1400" dirty="0"/>
              <a:t> </a:t>
            </a:r>
            <a:r>
              <a:rPr sz="1400" dirty="0" err="1"/>
              <a:t>yazarken</a:t>
            </a:r>
            <a:r>
              <a:rPr sz="1400" dirty="0"/>
              <a:t> </a:t>
            </a:r>
            <a:r>
              <a:rPr sz="1400" dirty="0" err="1"/>
              <a:t>OpenRouteService</a:t>
            </a:r>
            <a:r>
              <a:rPr sz="1400" dirty="0"/>
              <a:t> Pelias </a:t>
            </a:r>
            <a:r>
              <a:rPr sz="1400" dirty="0" err="1"/>
              <a:t>üzerinden</a:t>
            </a:r>
            <a:r>
              <a:rPr sz="1400" dirty="0"/>
              <a:t> </a:t>
            </a:r>
            <a:r>
              <a:rPr sz="1400" dirty="0" err="1"/>
              <a:t>otomatik</a:t>
            </a:r>
            <a:r>
              <a:rPr sz="1400" dirty="0"/>
              <a:t> </a:t>
            </a:r>
            <a:r>
              <a:rPr sz="1400" dirty="0" err="1"/>
              <a:t>adres</a:t>
            </a:r>
            <a:r>
              <a:rPr sz="1400" dirty="0"/>
              <a:t> </a:t>
            </a:r>
            <a:r>
              <a:rPr sz="1400" dirty="0" err="1"/>
              <a:t>tamamlama</a:t>
            </a:r>
            <a:r>
              <a:rPr sz="1400" dirty="0"/>
              <a:t> </a:t>
            </a:r>
            <a:r>
              <a:rPr sz="1400" dirty="0" err="1"/>
              <a:t>önerileri</a:t>
            </a:r>
            <a:r>
              <a:rPr sz="1400" dirty="0"/>
              <a:t> </a:t>
            </a:r>
            <a:r>
              <a:rPr sz="1400" dirty="0" err="1"/>
              <a:t>sunulur</a:t>
            </a:r>
            <a:r>
              <a:rPr sz="1400" dirty="0"/>
              <a:t>. /</a:t>
            </a:r>
            <a:r>
              <a:rPr sz="1400" dirty="0" err="1"/>
              <a:t>api</a:t>
            </a:r>
            <a:r>
              <a:rPr sz="1400" dirty="0"/>
              <a:t>/validate-address </a:t>
            </a:r>
            <a:r>
              <a:rPr sz="1400" dirty="0" err="1"/>
              <a:t>uç</a:t>
            </a:r>
            <a:r>
              <a:rPr sz="1400" dirty="0"/>
              <a:t> </a:t>
            </a:r>
            <a:r>
              <a:rPr sz="1400" dirty="0" err="1"/>
              <a:t>noktası</a:t>
            </a:r>
            <a:r>
              <a:rPr sz="1400" dirty="0"/>
              <a:t> </a:t>
            </a:r>
            <a:r>
              <a:rPr sz="1400" dirty="0" err="1"/>
              <a:t>ile</a:t>
            </a:r>
            <a:r>
              <a:rPr sz="1400" dirty="0"/>
              <a:t> </a:t>
            </a:r>
            <a:r>
              <a:rPr sz="1400" dirty="0" err="1"/>
              <a:t>adres</a:t>
            </a:r>
            <a:r>
              <a:rPr sz="1400" dirty="0"/>
              <a:t> </a:t>
            </a:r>
            <a:r>
              <a:rPr sz="1400" dirty="0" err="1"/>
              <a:t>formu</a:t>
            </a:r>
            <a:r>
              <a:rPr sz="1400" dirty="0"/>
              <a:t> </a:t>
            </a:r>
            <a:r>
              <a:rPr sz="1400" dirty="0" err="1"/>
              <a:t>gönderilmeden</a:t>
            </a:r>
            <a:r>
              <a:rPr sz="1400" dirty="0"/>
              <a:t> </a:t>
            </a:r>
            <a:r>
              <a:rPr sz="1400" dirty="0" err="1"/>
              <a:t>önce</a:t>
            </a:r>
            <a:r>
              <a:rPr sz="1400" dirty="0"/>
              <a:t> </a:t>
            </a:r>
            <a:r>
              <a:rPr sz="1400" dirty="0" err="1"/>
              <a:t>koordinat</a:t>
            </a:r>
            <a:r>
              <a:rPr sz="1400" dirty="0"/>
              <a:t> </a:t>
            </a:r>
            <a:r>
              <a:rPr sz="1400" dirty="0" err="1"/>
              <a:t>onaylanır</a:t>
            </a:r>
            <a:r>
              <a:rPr sz="1400" dirty="0"/>
              <a:t>.</a:t>
            </a:r>
            <a:endParaRPr sz="1400" dirty="0">
              <a:ea typeface="Calibri"/>
              <a:cs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120640" cy="2286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1250" b="1">
                <a:solidFill>
                  <a:srgbClr val="3B82F6"/>
                </a:solidFill>
              </a:defRPr>
            </a:pPr>
            <a:r>
              <a:rPr sz="1400" dirty="0"/>
              <a:t>➕ 3. </a:t>
            </a:r>
            <a:r>
              <a:rPr sz="1400" dirty="0" err="1"/>
              <a:t>Dinamik</a:t>
            </a:r>
            <a:r>
              <a:rPr sz="1400" dirty="0"/>
              <a:t> </a:t>
            </a:r>
            <a:r>
              <a:rPr sz="1400" dirty="0" err="1"/>
              <a:t>Sipariş</a:t>
            </a:r>
            <a:r>
              <a:rPr sz="1400" dirty="0"/>
              <a:t> </a:t>
            </a:r>
            <a:r>
              <a:rPr sz="1400" dirty="0" err="1"/>
              <a:t>Ekleme</a:t>
            </a:r>
            <a:r>
              <a:rPr sz="1400" dirty="0"/>
              <a:t> &amp; Re-Optimize</a:t>
            </a:r>
            <a:endParaRPr lang="en-US" sz="1400" dirty="0">
              <a:ea typeface="Calibri"/>
              <a:cs typeface="Calibri"/>
            </a:endParaRPr>
          </a:p>
          <a:p>
            <a:pPr>
              <a:defRPr sz="950">
                <a:solidFill>
                  <a:srgbClr val="94A3B8"/>
                </a:solidFill>
              </a:defRPr>
            </a:pPr>
            <a:r>
              <a:rPr sz="1400" dirty="0"/>
              <a:t>Saha </a:t>
            </a:r>
            <a:r>
              <a:rPr sz="1400" err="1"/>
              <a:t>operasyonu</a:t>
            </a:r>
            <a:r>
              <a:rPr sz="1400" dirty="0"/>
              <a:t> </a:t>
            </a:r>
            <a:r>
              <a:rPr sz="1400" err="1"/>
              <a:t>sırasında</a:t>
            </a:r>
            <a:r>
              <a:rPr sz="1400" dirty="0"/>
              <a:t> </a:t>
            </a:r>
            <a:r>
              <a:rPr sz="1400" err="1"/>
              <a:t>gelen</a:t>
            </a:r>
            <a:r>
              <a:rPr sz="1400" dirty="0"/>
              <a:t> </a:t>
            </a:r>
            <a:r>
              <a:rPr sz="1400" err="1"/>
              <a:t>acil</a:t>
            </a:r>
            <a:r>
              <a:rPr sz="1400" dirty="0"/>
              <a:t> </a:t>
            </a:r>
            <a:r>
              <a:rPr sz="1400" err="1"/>
              <a:t>sipariş</a:t>
            </a:r>
            <a:r>
              <a:rPr sz="1400" dirty="0"/>
              <a:t> modal </a:t>
            </a:r>
            <a:r>
              <a:rPr sz="1400" err="1"/>
              <a:t>üzerinden</a:t>
            </a:r>
            <a:r>
              <a:rPr sz="1400" dirty="0"/>
              <a:t> </a:t>
            </a:r>
            <a:r>
              <a:rPr sz="1400" err="1"/>
              <a:t>sisteme</a:t>
            </a:r>
            <a:r>
              <a:rPr sz="1400" dirty="0"/>
              <a:t> </a:t>
            </a:r>
            <a:r>
              <a:rPr sz="1400" err="1"/>
              <a:t>girilir</a:t>
            </a:r>
            <a:r>
              <a:rPr sz="1400" dirty="0"/>
              <a:t>. </a:t>
            </a:r>
            <a:r>
              <a:rPr sz="1400" err="1"/>
              <a:t>Sistem</a:t>
            </a:r>
            <a:r>
              <a:rPr sz="1400" dirty="0"/>
              <a:t> 1 </a:t>
            </a:r>
            <a:r>
              <a:rPr sz="1400" err="1"/>
              <a:t>saniye</a:t>
            </a:r>
            <a:r>
              <a:rPr sz="1400" dirty="0"/>
              <a:t> </a:t>
            </a:r>
            <a:r>
              <a:rPr sz="1400" err="1"/>
              <a:t>içinde</a:t>
            </a:r>
            <a:r>
              <a:rPr sz="1400" dirty="0"/>
              <a:t> </a:t>
            </a:r>
            <a:r>
              <a:rPr sz="1400" err="1"/>
              <a:t>rotaları</a:t>
            </a:r>
            <a:r>
              <a:rPr sz="1400" dirty="0"/>
              <a:t> </a:t>
            </a:r>
            <a:r>
              <a:rPr sz="1400" err="1"/>
              <a:t>en</a:t>
            </a:r>
            <a:r>
              <a:rPr sz="1400" dirty="0"/>
              <a:t> </a:t>
            </a:r>
            <a:r>
              <a:rPr sz="1400" err="1"/>
              <a:t>uygun</a:t>
            </a:r>
            <a:r>
              <a:rPr sz="1400" dirty="0"/>
              <a:t> araca </a:t>
            </a:r>
            <a:r>
              <a:rPr sz="1400" err="1"/>
              <a:t>atayarak</a:t>
            </a:r>
            <a:r>
              <a:rPr sz="1400" dirty="0"/>
              <a:t> </a:t>
            </a:r>
            <a:r>
              <a:rPr sz="1400" err="1"/>
              <a:t>mevcut</a:t>
            </a:r>
            <a:r>
              <a:rPr sz="1400" dirty="0"/>
              <a:t> </a:t>
            </a:r>
            <a:r>
              <a:rPr sz="1400" err="1"/>
              <a:t>planı</a:t>
            </a:r>
            <a:r>
              <a:rPr sz="1400" dirty="0"/>
              <a:t> </a:t>
            </a:r>
            <a:r>
              <a:rPr sz="1400" err="1"/>
              <a:t>bozmadan</a:t>
            </a:r>
            <a:r>
              <a:rPr sz="1400" dirty="0"/>
              <a:t> </a:t>
            </a:r>
            <a:r>
              <a:rPr sz="1400" err="1"/>
              <a:t>anlık</a:t>
            </a:r>
            <a:r>
              <a:rPr sz="1400" dirty="0"/>
              <a:t> </a:t>
            </a:r>
            <a:r>
              <a:rPr sz="1400" err="1"/>
              <a:t>günceller</a:t>
            </a:r>
            <a:r>
              <a:rPr sz="1400" dirty="0"/>
              <a:t>.</a:t>
            </a:r>
            <a:endParaRPr sz="1400" dirty="0">
              <a:ea typeface="Calibri"/>
              <a:cs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0" y="3840480"/>
            <a:ext cx="5120640" cy="22860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1250" b="1">
                <a:solidFill>
                  <a:srgbClr val="A855F7"/>
                </a:solidFill>
              </a:defRPr>
            </a:pPr>
            <a:r>
              <a:rPr dirty="0"/>
              <a:t>📊</a:t>
            </a:r>
            <a:r>
              <a:rPr sz="1400" dirty="0"/>
              <a:t> 4. </a:t>
            </a:r>
            <a:r>
              <a:rPr sz="1400" dirty="0" err="1"/>
              <a:t>Canlı</a:t>
            </a:r>
            <a:r>
              <a:rPr sz="1400" dirty="0"/>
              <a:t> </a:t>
            </a:r>
            <a:r>
              <a:rPr sz="1400" dirty="0" err="1"/>
              <a:t>Filtreleme</a:t>
            </a:r>
            <a:r>
              <a:rPr sz="1400" dirty="0"/>
              <a:t>, </a:t>
            </a:r>
            <a:r>
              <a:rPr sz="1400" dirty="0" err="1"/>
              <a:t>Grafikler</a:t>
            </a:r>
            <a:r>
              <a:rPr sz="1400" dirty="0"/>
              <a:t> &amp; CSV Export</a:t>
            </a:r>
            <a:endParaRPr lang="en-US" sz="1400" dirty="0">
              <a:ea typeface="Calibri"/>
              <a:cs typeface="Calibri"/>
            </a:endParaRPr>
          </a:p>
          <a:p>
            <a:pPr>
              <a:defRPr sz="950">
                <a:solidFill>
                  <a:srgbClr val="94A3B8"/>
                </a:solidFill>
              </a:defRPr>
            </a:pPr>
            <a:r>
              <a:rPr sz="1400" dirty="0"/>
              <a:t>Plaka, </a:t>
            </a:r>
            <a:r>
              <a:rPr sz="1400" dirty="0" err="1"/>
              <a:t>araç</a:t>
            </a:r>
            <a:r>
              <a:rPr sz="1400" dirty="0"/>
              <a:t> tipi </a:t>
            </a:r>
            <a:r>
              <a:rPr sz="1400" dirty="0" err="1"/>
              <a:t>ve</a:t>
            </a:r>
            <a:r>
              <a:rPr sz="1400" dirty="0"/>
              <a:t> </a:t>
            </a:r>
            <a:r>
              <a:rPr sz="1400" dirty="0" err="1"/>
              <a:t>teslimat</a:t>
            </a:r>
            <a:r>
              <a:rPr sz="1400" dirty="0"/>
              <a:t>/</a:t>
            </a:r>
            <a:r>
              <a:rPr sz="1400" dirty="0" err="1"/>
              <a:t>toplama</a:t>
            </a:r>
            <a:r>
              <a:rPr sz="1400" dirty="0"/>
              <a:t> </a:t>
            </a:r>
            <a:r>
              <a:rPr sz="1400" dirty="0" err="1"/>
              <a:t>türüne</a:t>
            </a:r>
            <a:r>
              <a:rPr sz="1400" dirty="0"/>
              <a:t> </a:t>
            </a:r>
            <a:r>
              <a:rPr sz="1400" dirty="0" err="1"/>
              <a:t>göre</a:t>
            </a:r>
            <a:r>
              <a:rPr sz="1400" dirty="0"/>
              <a:t> </a:t>
            </a:r>
            <a:r>
              <a:rPr sz="1400" dirty="0" err="1"/>
              <a:t>canlı</a:t>
            </a:r>
            <a:r>
              <a:rPr sz="1400" dirty="0"/>
              <a:t> </a:t>
            </a:r>
            <a:r>
              <a:rPr sz="1400" dirty="0" err="1"/>
              <a:t>filtreleme</a:t>
            </a:r>
            <a:r>
              <a:rPr sz="1400" dirty="0"/>
              <a:t> </a:t>
            </a:r>
            <a:r>
              <a:rPr sz="1400" dirty="0" err="1"/>
              <a:t>yapılır</a:t>
            </a:r>
            <a:r>
              <a:rPr sz="1400" dirty="0"/>
              <a:t>. Chart.js pasta </a:t>
            </a:r>
            <a:r>
              <a:rPr sz="1400" dirty="0" err="1"/>
              <a:t>grafikleriyle</a:t>
            </a:r>
            <a:r>
              <a:rPr sz="1400" dirty="0"/>
              <a:t> filo </a:t>
            </a:r>
            <a:r>
              <a:rPr sz="1400" dirty="0" err="1"/>
              <a:t>dağılımı</a:t>
            </a:r>
            <a:r>
              <a:rPr sz="1400" dirty="0"/>
              <a:t> </a:t>
            </a:r>
            <a:r>
              <a:rPr sz="1400" dirty="0" err="1"/>
              <a:t>izlenir</a:t>
            </a:r>
            <a:r>
              <a:rPr sz="1400" dirty="0"/>
              <a:t> </a:t>
            </a:r>
            <a:r>
              <a:rPr sz="1400" dirty="0" err="1"/>
              <a:t>ve</a:t>
            </a:r>
            <a:r>
              <a:rPr sz="1400" dirty="0"/>
              <a:t> </a:t>
            </a:r>
            <a:r>
              <a:rPr sz="1400" dirty="0" err="1"/>
              <a:t>saha</a:t>
            </a:r>
            <a:r>
              <a:rPr sz="1400" dirty="0"/>
              <a:t> </a:t>
            </a:r>
            <a:r>
              <a:rPr sz="1400" dirty="0" err="1"/>
              <a:t>kuryelerine</a:t>
            </a:r>
            <a:r>
              <a:rPr sz="1400" dirty="0"/>
              <a:t> </a:t>
            </a:r>
            <a:r>
              <a:rPr sz="1400" dirty="0" err="1"/>
              <a:t>iletilmek</a:t>
            </a:r>
            <a:r>
              <a:rPr sz="1400" dirty="0"/>
              <a:t> </a:t>
            </a:r>
            <a:r>
              <a:rPr sz="1400" dirty="0" err="1"/>
              <a:t>üzere</a:t>
            </a:r>
            <a:r>
              <a:rPr sz="1400" dirty="0"/>
              <a:t> </a:t>
            </a:r>
            <a:r>
              <a:rPr sz="1400" dirty="0" err="1"/>
              <a:t>tek</a:t>
            </a:r>
            <a:r>
              <a:rPr sz="1400" dirty="0"/>
              <a:t> </a:t>
            </a:r>
            <a:r>
              <a:rPr sz="1400" dirty="0" err="1"/>
              <a:t>tıkla</a:t>
            </a:r>
            <a:r>
              <a:rPr sz="1400" dirty="0"/>
              <a:t> CSV/Excel </a:t>
            </a:r>
            <a:r>
              <a:rPr sz="1400" dirty="0" err="1"/>
              <a:t>çıktısı</a:t>
            </a:r>
            <a:r>
              <a:rPr sz="1400" dirty="0"/>
              <a:t> </a:t>
            </a:r>
            <a:r>
              <a:rPr sz="1400" dirty="0" err="1"/>
              <a:t>alınır</a:t>
            </a:r>
            <a:r>
              <a:rPr sz="1400" dirty="0"/>
              <a:t>.</a:t>
            </a:r>
            <a:endParaRPr sz="14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371600" y="1097280"/>
            <a:ext cx="9418320" cy="4663440"/>
          </a:xfrm>
          <a:prstGeom prst="roundRect">
            <a:avLst/>
          </a:prstGeom>
          <a:solidFill>
            <a:srgbClr val="1C2541"/>
          </a:solidFill>
          <a:ln w="254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3200" b="1">
                <a:solidFill>
                  <a:srgbClr val="F8FAFC"/>
                </a:solidFill>
              </a:defRPr>
            </a:pPr>
            <a:br>
              <a:rPr dirty="0"/>
            </a:br>
            <a:r>
              <a:rPr dirty="0"/>
              <a:t>✨ </a:t>
            </a:r>
            <a:r>
              <a:rPr dirty="0" err="1"/>
              <a:t>Teşekkür</a:t>
            </a:r>
            <a:r>
              <a:rPr dirty="0"/>
              <a:t> </a:t>
            </a:r>
            <a:r>
              <a:rPr dirty="0" err="1"/>
              <a:t>Ederim</a:t>
            </a:r>
            <a:endParaRPr lang="en-US" dirty="0" err="1">
              <a:ea typeface="Calibri"/>
              <a:cs typeface="Calibri"/>
            </a:endParaRPr>
          </a:p>
          <a:p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64</cp:revision>
  <dcterms:created xsi:type="dcterms:W3CDTF">2013-01-27T09:14:16Z</dcterms:created>
  <dcterms:modified xsi:type="dcterms:W3CDTF">2026-09-04T09:48:30Z</dcterms:modified>
  <cp:category/>
</cp:coreProperties>
</file>